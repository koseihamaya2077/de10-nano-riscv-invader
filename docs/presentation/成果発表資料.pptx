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oboto Mono"/>
      <p:regular r:id="rId18"/>
      <p:bold r:id="rId19"/>
      <p:italic r:id="rId20"/>
      <p:boldItalic r:id="rId21"/>
    </p:embeddedFont>
    <p:embeddedFont>
      <p:font typeface="Noto Sans JP"/>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CB2F3C-906E-4F17-8535-1989AEAC03CE}">
  <a:tblStyle styleId="{16CB2F3C-906E-4F17-8535-1989AEAC03C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italic.fntdata"/><Relationship Id="rId11" Type="http://schemas.openxmlformats.org/officeDocument/2006/relationships/slide" Target="slides/slide5.xml"/><Relationship Id="rId22" Type="http://schemas.openxmlformats.org/officeDocument/2006/relationships/font" Target="fonts/NotoSansJP-regular.fntdata"/><Relationship Id="rId10" Type="http://schemas.openxmlformats.org/officeDocument/2006/relationships/slide" Target="slides/slide4.xml"/><Relationship Id="rId21"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NotoSansJP-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Mono-bold.fntdata"/><Relationship Id="rId6" Type="http://schemas.openxmlformats.org/officeDocument/2006/relationships/notesMaster" Target="notesMasters/notesMaster1.xml"/><Relationship Id="rId18" Type="http://schemas.openxmlformats.org/officeDocument/2006/relationships/font" Target="fonts/RobotoMon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5c6c95a35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5c6c95a35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5c6c95a35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5c6c95a35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5c6c95a35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5c6c95a35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5c6c95a35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5c6c95a35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5c6c95a35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5c6c95a35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5c6c95a35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5c6c95a35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5c6c95a3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5c6c95a3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5c6c95a35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5c6c95a35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5c6c95a35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5c6c95a35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5c6c95a35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5c6c95a35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drive.google.com/file/d/138VFDQYitp1IFOz7Pgknpua-sapRhKr_/view"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s://yosshin4004.github.io/famibe/develop/index.html" TargetMode="External"/><Relationship Id="rId5" Type="http://schemas.openxmlformats.org/officeDocument/2006/relationships/image" Target="../media/image4.png"/><Relationship Id="rId6" Type="http://schemas.openxmlformats.org/officeDocument/2006/relationships/hyperlink" Target="https://www.youtube.com/watch?v=PHqwMrAduK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drive.google.com/file/d/1Zs4BdsCK37U_JPGodW9xPzfZpyxsY1sj/view" TargetMode="Externa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artsandculture.google.com/story/wAVxCu_0BaX0aw?hl=ja" TargetMode="External"/><Relationship Id="rId4" Type="http://schemas.openxmlformats.org/officeDocument/2006/relationships/hyperlink" Target="https://www.arcade-museum.com/manuals-videogames/S/Sprint2.pdf" TargetMode="External"/><Relationship Id="rId5" Type="http://schemas.openxmlformats.org/officeDocument/2006/relationships/hyperlink" Target="https://igcc.jp/%E8%A5%BF%E8%A7%92%E5%8F%8B%E5%AE%8F1/" TargetMode="External"/><Relationship Id="rId6" Type="http://schemas.openxmlformats.org/officeDocument/2006/relationships/hyperlink" Target="https://www.computerarcheology.com/Arcade/SpaceInvaders/Hardware.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ja"/>
              <a:t>FPGA上の簡易RISC-V CPUを用いた</a:t>
            </a:r>
            <a:endParaRPr/>
          </a:p>
          <a:p>
            <a:pPr indent="0" lvl="0" marL="0" rtl="0" algn="ctr">
              <a:spcBef>
                <a:spcPts val="0"/>
              </a:spcBef>
              <a:spcAft>
                <a:spcPts val="0"/>
              </a:spcAft>
              <a:buNone/>
            </a:pPr>
            <a:r>
              <a:rPr lang="ja"/>
              <a:t>インベーダー風ゲームの実装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a:t>1w242304 </a:t>
            </a:r>
            <a:r>
              <a:rPr lang="ja"/>
              <a:t>濱谷康生</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1.</a:t>
            </a:r>
            <a:r>
              <a:rPr lang="ja"/>
              <a:t>目的</a:t>
            </a:r>
            <a:endParaRPr/>
          </a:p>
        </p:txBody>
      </p:sp>
      <p:sp>
        <p:nvSpPr>
          <p:cNvPr id="61" name="Google Shape;61;p14"/>
          <p:cNvSpPr txBox="1"/>
          <p:nvPr>
            <p:ph idx="1" type="body"/>
          </p:nvPr>
        </p:nvSpPr>
        <p:spPr>
          <a:xfrm>
            <a:off x="311700" y="1152475"/>
            <a:ext cx="85206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ja" sz="2400">
                <a:solidFill>
                  <a:schemeClr val="dk1"/>
                </a:solidFill>
                <a:latin typeface="Noto Sans JP"/>
                <a:ea typeface="Noto Sans JP"/>
                <a:cs typeface="Noto Sans JP"/>
                <a:sym typeface="Noto Sans JP"/>
              </a:rPr>
              <a:t>・アーキテクチャAで勉強した簡易CPUを実際に動かしたい</a:t>
            </a:r>
            <a:endParaRPr sz="2400">
              <a:solidFill>
                <a:schemeClr val="dk1"/>
              </a:solidFill>
              <a:latin typeface="Noto Sans JP"/>
              <a:ea typeface="Noto Sans JP"/>
              <a:cs typeface="Noto Sans JP"/>
              <a:sym typeface="Noto Sans JP"/>
            </a:endParaRPr>
          </a:p>
          <a:p>
            <a:pPr indent="0" lvl="0" marL="0" rtl="0" algn="l">
              <a:spcBef>
                <a:spcPts val="1200"/>
              </a:spcBef>
              <a:spcAft>
                <a:spcPts val="0"/>
              </a:spcAft>
              <a:buNone/>
            </a:pPr>
            <a:r>
              <a:rPr lang="ja" sz="2400">
                <a:solidFill>
                  <a:schemeClr val="dk1"/>
                </a:solidFill>
                <a:latin typeface="Noto Sans JP"/>
                <a:ea typeface="Noto Sans JP"/>
                <a:cs typeface="Noto Sans JP"/>
                <a:sym typeface="Noto Sans JP"/>
              </a:rPr>
              <a:t>・映像出力をする場合にどういう計算とリソースが必要か</a:t>
            </a:r>
            <a:endParaRPr sz="2400">
              <a:solidFill>
                <a:schemeClr val="dk1"/>
              </a:solidFill>
              <a:latin typeface="Noto Sans JP"/>
              <a:ea typeface="Noto Sans JP"/>
              <a:cs typeface="Noto Sans JP"/>
              <a:sym typeface="Noto Sans JP"/>
            </a:endParaRPr>
          </a:p>
          <a:p>
            <a:pPr indent="0" lvl="0" marL="0" rtl="0" algn="l">
              <a:spcBef>
                <a:spcPts val="1200"/>
              </a:spcBef>
              <a:spcAft>
                <a:spcPts val="0"/>
              </a:spcAft>
              <a:buNone/>
            </a:pPr>
            <a:r>
              <a:rPr lang="ja" sz="2400">
                <a:solidFill>
                  <a:schemeClr val="dk1"/>
                </a:solidFill>
                <a:latin typeface="Noto Sans JP"/>
                <a:ea typeface="Noto Sans JP"/>
                <a:cs typeface="Noto Sans JP"/>
                <a:sym typeface="Noto Sans JP"/>
              </a:rPr>
              <a:t>　　　⇒HDMI出力（主にデモ利用）とスプライト方式</a:t>
            </a:r>
            <a:endParaRPr sz="2400">
              <a:solidFill>
                <a:schemeClr val="dk1"/>
              </a:solidFill>
              <a:latin typeface="Noto Sans JP"/>
              <a:ea typeface="Noto Sans JP"/>
              <a:cs typeface="Noto Sans JP"/>
              <a:sym typeface="Noto Sans JP"/>
            </a:endParaRPr>
          </a:p>
          <a:p>
            <a:pPr indent="0" lvl="0" marL="0" rtl="0" algn="l">
              <a:spcBef>
                <a:spcPts val="1200"/>
              </a:spcBef>
              <a:spcAft>
                <a:spcPts val="0"/>
              </a:spcAft>
              <a:buNone/>
            </a:pPr>
            <a:r>
              <a:t/>
            </a:r>
            <a:endParaRPr sz="2400">
              <a:solidFill>
                <a:schemeClr val="dk1"/>
              </a:solidFill>
              <a:latin typeface="Noto Sans JP"/>
              <a:ea typeface="Noto Sans JP"/>
              <a:cs typeface="Noto Sans JP"/>
              <a:sym typeface="Noto Sans JP"/>
            </a:endParaRPr>
          </a:p>
          <a:p>
            <a:pPr indent="0" lvl="0" marL="0" rtl="0" algn="l">
              <a:spcBef>
                <a:spcPts val="1200"/>
              </a:spcBef>
              <a:spcAft>
                <a:spcPts val="0"/>
              </a:spcAft>
              <a:buNone/>
            </a:pPr>
            <a:r>
              <a:t/>
            </a:r>
            <a:endParaRPr sz="2400">
              <a:solidFill>
                <a:schemeClr val="dk1"/>
              </a:solidFill>
              <a:latin typeface="Noto Sans JP"/>
              <a:ea typeface="Noto Sans JP"/>
              <a:cs typeface="Noto Sans JP"/>
              <a:sym typeface="Noto Sans JP"/>
            </a:endParaRPr>
          </a:p>
          <a:p>
            <a:pPr indent="0" lvl="0" marL="0" rtl="0" algn="ctr">
              <a:spcBef>
                <a:spcPts val="1200"/>
              </a:spcBef>
              <a:spcAft>
                <a:spcPts val="1200"/>
              </a:spcAft>
              <a:buNone/>
            </a:pPr>
            <a:r>
              <a:rPr lang="ja" sz="2400">
                <a:solidFill>
                  <a:schemeClr val="dk1"/>
                </a:solidFill>
                <a:latin typeface="Noto Sans JP"/>
                <a:ea typeface="Noto Sans JP"/>
                <a:cs typeface="Noto Sans JP"/>
                <a:sym typeface="Noto Sans JP"/>
              </a:rPr>
              <a:t>操作可能なゲーム(風の何か)をつくる</a:t>
            </a:r>
            <a:endParaRPr sz="2400">
              <a:solidFill>
                <a:schemeClr val="dk1"/>
              </a:solidFill>
              <a:latin typeface="Noto Sans JP"/>
              <a:ea typeface="Noto Sans JP"/>
              <a:cs typeface="Noto Sans JP"/>
              <a:sym typeface="Noto Sans JP"/>
            </a:endParaRPr>
          </a:p>
        </p:txBody>
      </p:sp>
      <p:sp>
        <p:nvSpPr>
          <p:cNvPr id="62" name="Google Shape;62;p14"/>
          <p:cNvSpPr/>
          <p:nvPr/>
        </p:nvSpPr>
        <p:spPr>
          <a:xfrm rot="10800000">
            <a:off x="4266450" y="2843525"/>
            <a:ext cx="611100" cy="1132200"/>
          </a:xfrm>
          <a:prstGeom prst="up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63" name="Google Shape;63;p14"/>
          <p:cNvSpPr txBox="1"/>
          <p:nvPr/>
        </p:nvSpPr>
        <p:spPr>
          <a:xfrm>
            <a:off x="4674650" y="3123275"/>
            <a:ext cx="2174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最終目標</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520"/>
              <a:t>2．</a:t>
            </a:r>
            <a:r>
              <a:rPr lang="ja" sz="2520"/>
              <a:t>triscvの拡張</a:t>
            </a:r>
            <a:endParaRPr sz="2520"/>
          </a:p>
        </p:txBody>
      </p:sp>
      <p:sp>
        <p:nvSpPr>
          <p:cNvPr id="69" name="Google Shape;69;p15"/>
          <p:cNvSpPr txBox="1"/>
          <p:nvPr>
            <p:ph idx="1" type="body"/>
          </p:nvPr>
        </p:nvSpPr>
        <p:spPr>
          <a:xfrm>
            <a:off x="311700" y="1152475"/>
            <a:ext cx="8520600" cy="35769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ja" sz="2000">
                <a:solidFill>
                  <a:srgbClr val="158158"/>
                </a:solidFill>
                <a:latin typeface="Noto Sans JP"/>
                <a:ea typeface="Noto Sans JP"/>
                <a:cs typeface="Noto Sans JP"/>
                <a:sym typeface="Noto Sans JP"/>
              </a:rPr>
              <a:t>追加した機能</a:t>
            </a:r>
            <a:endParaRPr b="1" sz="2000">
              <a:solidFill>
                <a:srgbClr val="158158"/>
              </a:solidFill>
              <a:latin typeface="Noto Sans JP"/>
              <a:ea typeface="Noto Sans JP"/>
              <a:cs typeface="Noto Sans JP"/>
              <a:sym typeface="Noto Sans JP"/>
            </a:endParaRPr>
          </a:p>
          <a:p>
            <a:pPr indent="-355600" lvl="0" marL="457200" rtl="0" algn="l">
              <a:lnSpc>
                <a:spcPct val="105000"/>
              </a:lnSpc>
              <a:spcBef>
                <a:spcPts val="50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シフト・論理演算：SLL / SRL / SRA，XOR</a:t>
            </a:r>
            <a:endParaRPr sz="2000">
              <a:solidFill>
                <a:srgbClr val="141414"/>
              </a:solidFill>
              <a:latin typeface="Noto Sans JP"/>
              <a:ea typeface="Noto Sans JP"/>
              <a:cs typeface="Noto Sans JP"/>
              <a:sym typeface="Noto Sans JP"/>
            </a:endParaRPr>
          </a:p>
          <a:p>
            <a:pPr indent="-355600" lvl="0" marL="457200" rtl="0" algn="l">
              <a:lnSpc>
                <a:spcPct val="105000"/>
              </a:lnSpc>
              <a:spcBef>
                <a:spcPts val="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比較・条件分岐：SLTU，BNE，BLT / BGE，BLTU / BGEU</a:t>
            </a:r>
            <a:endParaRPr sz="1000">
              <a:solidFill>
                <a:srgbClr val="141414"/>
              </a:solidFill>
              <a:latin typeface="Noto Sans JP"/>
              <a:ea typeface="Noto Sans JP"/>
              <a:cs typeface="Noto Sans JP"/>
              <a:sym typeface="Noto Sans JP"/>
            </a:endParaRPr>
          </a:p>
          <a:p>
            <a:pPr indent="0" lvl="0" marL="457200" rtl="0" algn="l">
              <a:lnSpc>
                <a:spcPct val="105000"/>
              </a:lnSpc>
              <a:spcBef>
                <a:spcPts val="500"/>
              </a:spcBef>
              <a:spcAft>
                <a:spcPts val="0"/>
              </a:spcAft>
              <a:buNone/>
            </a:pPr>
            <a:r>
              <a:rPr lang="ja" sz="1000">
                <a:solidFill>
                  <a:srgbClr val="141414"/>
                </a:solidFill>
                <a:latin typeface="Noto Sans JP"/>
                <a:ea typeface="Noto Sans JP"/>
                <a:cs typeface="Noto Sans JP"/>
                <a:sym typeface="Noto Sans JP"/>
              </a:rPr>
              <a:t>今でも　https://www.ibm.com/docs/ja/aix/7.3.0?topic=reference-instruction-set　を見ながら...</a:t>
            </a:r>
            <a:endParaRPr sz="1000">
              <a:solidFill>
                <a:srgbClr val="141414"/>
              </a:solidFill>
              <a:latin typeface="Noto Sans JP"/>
              <a:ea typeface="Noto Sans JP"/>
              <a:cs typeface="Noto Sans JP"/>
              <a:sym typeface="Noto Sans JP"/>
            </a:endParaRPr>
          </a:p>
          <a:p>
            <a:pPr indent="-355600" lvl="0" marL="457200" rtl="0" algn="l">
              <a:lnSpc>
                <a:spcPct val="105000"/>
              </a:lnSpc>
              <a:spcBef>
                <a:spcPts val="50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命令・データメモリ：64 words → 512 words（最終的に使うのは300語くらいになったはず)</a:t>
            </a:r>
            <a:endParaRPr sz="2000">
              <a:solidFill>
                <a:srgbClr val="141414"/>
              </a:solidFill>
              <a:latin typeface="Noto Sans JP"/>
              <a:ea typeface="Noto Sans JP"/>
              <a:cs typeface="Noto Sans JP"/>
              <a:sym typeface="Noto Sans JP"/>
            </a:endParaRPr>
          </a:p>
          <a:p>
            <a:pPr indent="-355600" lvl="0" marL="457200" rtl="0" algn="l">
              <a:lnSpc>
                <a:spcPct val="105000"/>
              </a:lnSpc>
              <a:spcBef>
                <a:spcPts val="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tas.pyも追加命令へ対応</a:t>
            </a:r>
            <a:endParaRPr sz="2000">
              <a:solidFill>
                <a:srgbClr val="141414"/>
              </a:solidFill>
              <a:latin typeface="Noto Sans JP"/>
              <a:ea typeface="Noto Sans JP"/>
              <a:cs typeface="Noto Sans JP"/>
              <a:sym typeface="Noto Sans JP"/>
            </a:endParaRPr>
          </a:p>
          <a:p>
            <a:pPr indent="-355600" lvl="0" marL="457200" rtl="0" algn="l">
              <a:lnSpc>
                <a:spcPct val="105000"/>
              </a:lnSpc>
              <a:spcBef>
                <a:spcPts val="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命令デコーダ部分も合わせてテコ入れ</a:t>
            </a:r>
            <a:endParaRPr sz="20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0"/>
              </a:spcAft>
              <a:buNone/>
            </a:pPr>
            <a:r>
              <a:rPr b="1" lang="ja" sz="2000">
                <a:solidFill>
                  <a:srgbClr val="158158"/>
                </a:solidFill>
                <a:latin typeface="Noto Sans JP"/>
                <a:ea typeface="Noto Sans JP"/>
                <a:cs typeface="Noto Sans JP"/>
                <a:sym typeface="Noto Sans JP"/>
              </a:rPr>
              <a:t>CPU(というかプログラム部分)の担当</a:t>
            </a:r>
            <a:endParaRPr b="1" sz="2000">
              <a:solidFill>
                <a:srgbClr val="158158"/>
              </a:solidFill>
              <a:latin typeface="Noto Sans JP"/>
              <a:ea typeface="Noto Sans JP"/>
              <a:cs typeface="Noto Sans JP"/>
              <a:sym typeface="Noto Sans JP"/>
            </a:endParaRPr>
          </a:p>
          <a:p>
            <a:pPr indent="-355600" lvl="0" marL="457200" rtl="0" algn="l">
              <a:lnSpc>
                <a:spcPct val="105000"/>
              </a:lnSpc>
              <a:spcBef>
                <a:spcPts val="50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KEY入力，座標更新，当たり判定，敵55体の生存管理，スコア</a:t>
            </a:r>
            <a:endParaRPr b="1" sz="2000">
              <a:solidFill>
                <a:srgbClr val="158158"/>
              </a:solidFill>
              <a:latin typeface="Noto Sans JP"/>
              <a:ea typeface="Noto Sans JP"/>
              <a:cs typeface="Noto Sans JP"/>
              <a:sym typeface="Noto Sans J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520"/>
              <a:t>3．320×180フレームバッファの実装</a:t>
            </a:r>
            <a:endParaRPr sz="2520"/>
          </a:p>
        </p:txBody>
      </p:sp>
      <p:sp>
        <p:nvSpPr>
          <p:cNvPr id="75" name="Google Shape;75;p16"/>
          <p:cNvSpPr txBox="1"/>
          <p:nvPr>
            <p:ph idx="1" type="body"/>
          </p:nvPr>
        </p:nvSpPr>
        <p:spPr>
          <a:xfrm>
            <a:off x="311700" y="1152475"/>
            <a:ext cx="8520600" cy="3769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ja" sz="1900">
                <a:solidFill>
                  <a:srgbClr val="141414"/>
                </a:solidFill>
                <a:latin typeface="Noto Sans JP"/>
                <a:ea typeface="Noto Sans JP"/>
                <a:cs typeface="Noto Sans JP"/>
                <a:sym typeface="Noto Sans JP"/>
              </a:rPr>
              <a:t>320×180の画面RAMを用意し，デモにあったFHD映像へ縦横6倍して表示</a:t>
            </a:r>
            <a:endParaRPr b="1" sz="19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0"/>
              </a:spcAft>
              <a:buNone/>
            </a:pPr>
            <a:r>
              <a:rPr b="1" lang="ja" sz="2000">
                <a:solidFill>
                  <a:srgbClr val="158158"/>
                </a:solidFill>
                <a:latin typeface="Noto Sans JP"/>
                <a:ea typeface="Noto Sans JP"/>
                <a:cs typeface="Noto Sans JP"/>
                <a:sym typeface="Noto Sans JP"/>
              </a:rPr>
              <a:t>CPUとvideo回路の接続</a:t>
            </a:r>
            <a:endParaRPr b="1" sz="2000">
              <a:solidFill>
                <a:srgbClr val="158158"/>
              </a:solidFill>
              <a:latin typeface="Noto Sans JP"/>
              <a:ea typeface="Noto Sans JP"/>
              <a:cs typeface="Noto Sans JP"/>
              <a:sym typeface="Noto Sans JP"/>
            </a:endParaRPr>
          </a:p>
          <a:p>
            <a:pPr indent="-355600" lvl="0" marL="457200" rtl="0" algn="l">
              <a:lnSpc>
                <a:spcPct val="105000"/>
              </a:lnSpc>
              <a:spcBef>
                <a:spcPts val="50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CPU：32bit単位で書き込み（下位24bitがRGB）</a:t>
            </a:r>
            <a:endParaRPr sz="2000">
              <a:solidFill>
                <a:srgbClr val="141414"/>
              </a:solidFill>
              <a:latin typeface="Noto Sans JP"/>
              <a:ea typeface="Noto Sans JP"/>
              <a:cs typeface="Noto Sans JP"/>
              <a:sym typeface="Noto Sans JP"/>
            </a:endParaRPr>
          </a:p>
          <a:p>
            <a:pPr indent="0" lvl="0" marL="457200" rtl="0" algn="l">
              <a:lnSpc>
                <a:spcPct val="105000"/>
              </a:lnSpc>
              <a:spcBef>
                <a:spcPts val="500"/>
              </a:spcBef>
              <a:spcAft>
                <a:spcPts val="0"/>
              </a:spcAft>
              <a:buNone/>
            </a:pPr>
            <a:r>
              <a:rPr lang="ja" sz="1200">
                <a:solidFill>
                  <a:srgbClr val="141414"/>
                </a:solidFill>
                <a:latin typeface="Noto Sans JP"/>
                <a:ea typeface="Noto Sans JP"/>
                <a:cs typeface="Noto Sans JP"/>
                <a:sym typeface="Noto Sans JP"/>
              </a:rPr>
              <a:t>⇒quartusの推論が勝手に削減してくれてラッキー</a:t>
            </a:r>
            <a:endParaRPr sz="1200">
              <a:solidFill>
                <a:srgbClr val="141414"/>
              </a:solidFill>
              <a:latin typeface="Noto Sans JP"/>
              <a:ea typeface="Noto Sans JP"/>
              <a:cs typeface="Noto Sans JP"/>
              <a:sym typeface="Noto Sans JP"/>
            </a:endParaRPr>
          </a:p>
          <a:p>
            <a:pPr indent="-355600" lvl="0" marL="457200" rtl="0" algn="l">
              <a:lnSpc>
                <a:spcPct val="105000"/>
              </a:lnSpc>
              <a:spcBef>
                <a:spcPts val="50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video側：別の読み出しポートから一定周期でRGBを取得</a:t>
            </a:r>
            <a:endParaRPr sz="2000">
              <a:solidFill>
                <a:srgbClr val="141414"/>
              </a:solidFill>
              <a:latin typeface="Noto Sans JP"/>
              <a:ea typeface="Noto Sans JP"/>
              <a:cs typeface="Noto Sans JP"/>
              <a:sym typeface="Noto Sans JP"/>
            </a:endParaRPr>
          </a:p>
          <a:p>
            <a:pPr indent="-355600" lvl="0" marL="457200" rtl="0" algn="l">
              <a:lnSpc>
                <a:spcPct val="105000"/>
              </a:lnSpc>
              <a:spcBef>
                <a:spcPts val="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同期RAMの1クロック遅延に合わせてDE / HSync / VSyncを遅延</a:t>
            </a:r>
            <a:endParaRPr sz="20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0"/>
              </a:spcAft>
              <a:buNone/>
            </a:pPr>
            <a:r>
              <a:rPr b="1" lang="ja" sz="2000">
                <a:solidFill>
                  <a:srgbClr val="158158"/>
                </a:solidFill>
                <a:latin typeface="Noto Sans JP"/>
                <a:ea typeface="Noto Sans JP"/>
                <a:cs typeface="Noto Sans JP"/>
                <a:sym typeface="Noto Sans JP"/>
              </a:rPr>
              <a:t>座標計算と容量</a:t>
            </a:r>
            <a:endParaRPr b="1" sz="2000">
              <a:solidFill>
                <a:srgbClr val="158158"/>
              </a:solidFill>
              <a:latin typeface="Noto Sans JP"/>
              <a:ea typeface="Noto Sans JP"/>
              <a:cs typeface="Noto Sans JP"/>
              <a:sym typeface="Noto Sans JP"/>
            </a:endParaRPr>
          </a:p>
          <a:p>
            <a:pPr indent="-355600" lvl="0" marL="457200" rtl="0" algn="l">
              <a:lnSpc>
                <a:spcPct val="105000"/>
              </a:lnSpc>
              <a:spcBef>
                <a:spcPts val="50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座標 = y×320 + x = (y &lt;&lt; 8(256)) + (y &lt;&lt; 6(64)) + x</a:t>
            </a:r>
            <a:endParaRPr sz="2000">
              <a:solidFill>
                <a:srgbClr val="141414"/>
              </a:solidFill>
              <a:latin typeface="Noto Sans JP"/>
              <a:ea typeface="Noto Sans JP"/>
              <a:cs typeface="Noto Sans JP"/>
              <a:sym typeface="Noto Sans JP"/>
            </a:endParaRPr>
          </a:p>
          <a:p>
            <a:pPr indent="-355600" lvl="0" marL="457200" rtl="0" algn="l">
              <a:lnSpc>
                <a:spcPct val="105000"/>
              </a:lnSpc>
              <a:spcBef>
                <a:spcPts val="0"/>
              </a:spcBef>
              <a:spcAft>
                <a:spcPts val="0"/>
              </a:spcAft>
              <a:buClr>
                <a:srgbClr val="141414"/>
              </a:buClr>
              <a:buSzPts val="2000"/>
              <a:buFont typeface="Noto Sans JP"/>
              <a:buChar char="●"/>
            </a:pPr>
            <a:r>
              <a:rPr lang="ja" sz="2000">
                <a:solidFill>
                  <a:srgbClr val="141414"/>
                </a:solidFill>
                <a:latin typeface="Noto Sans JP"/>
                <a:ea typeface="Noto Sans JP"/>
                <a:cs typeface="Noto Sans JP"/>
                <a:sym typeface="Noto Sans JP"/>
              </a:rPr>
              <a:t>57,600画素 × 24bit RGB = 1,382,400bit（約1.38Mbit）</a:t>
            </a:r>
            <a:endParaRPr sz="2000">
              <a:solidFill>
                <a:srgbClr val="141414"/>
              </a:solidFill>
              <a:latin typeface="Noto Sans JP"/>
              <a:ea typeface="Noto Sans JP"/>
              <a:cs typeface="Noto Sans JP"/>
              <a:sym typeface="Noto Sans JP"/>
            </a:endParaRPr>
          </a:p>
          <a:p>
            <a:pPr indent="0" lvl="0" marL="457200" rtl="0" algn="l">
              <a:lnSpc>
                <a:spcPct val="105000"/>
              </a:lnSpc>
              <a:spcBef>
                <a:spcPts val="500"/>
              </a:spcBef>
              <a:spcAft>
                <a:spcPts val="500"/>
              </a:spcAft>
              <a:buNone/>
            </a:pPr>
            <a:r>
              <a:rPr lang="ja" sz="2000">
                <a:solidFill>
                  <a:srgbClr val="141414"/>
                </a:solidFill>
                <a:latin typeface="Noto Sans JP"/>
                <a:ea typeface="Noto Sans JP"/>
                <a:cs typeface="Noto Sans JP"/>
                <a:sym typeface="Noto Sans JP"/>
              </a:rPr>
              <a:t>5.57Mbitがde10nanoのMemBlockの値</a:t>
            </a:r>
            <a:endParaRPr b="1" sz="2000">
              <a:solidFill>
                <a:srgbClr val="158158"/>
              </a:solidFill>
              <a:latin typeface="Noto Sans JP"/>
              <a:ea typeface="Noto Sans JP"/>
              <a:cs typeface="Noto Sans JP"/>
              <a:sym typeface="Noto Sans JP"/>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4.</a:t>
            </a:r>
            <a:r>
              <a:rPr lang="ja"/>
              <a:t>当初の描画方式と問題点</a:t>
            </a:r>
            <a:endParaRPr/>
          </a:p>
        </p:txBody>
      </p:sp>
      <p:sp>
        <p:nvSpPr>
          <p:cNvPr id="81" name="Google Shape;81;p17"/>
          <p:cNvSpPr txBox="1"/>
          <p:nvPr>
            <p:ph idx="1" type="body"/>
          </p:nvPr>
        </p:nvSpPr>
        <p:spPr>
          <a:xfrm>
            <a:off x="4572000" y="1152475"/>
            <a:ext cx="4260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2" name="Google Shape;82;p17"/>
          <p:cNvSpPr txBox="1"/>
          <p:nvPr>
            <p:ph idx="1" type="body"/>
          </p:nvPr>
        </p:nvSpPr>
        <p:spPr>
          <a:xfrm>
            <a:off x="311700" y="1152475"/>
            <a:ext cx="4260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ja" sz="1600">
                <a:solidFill>
                  <a:schemeClr val="dk1"/>
                </a:solidFill>
              </a:rPr>
              <a:t>①CPUで全画面(320*180)をバッファに書込</a:t>
            </a:r>
            <a:endParaRPr sz="1600">
              <a:solidFill>
                <a:schemeClr val="dk1"/>
              </a:solidFill>
            </a:endParaRPr>
          </a:p>
          <a:p>
            <a:pPr indent="0" lvl="0" marL="0" rtl="0" algn="l">
              <a:spcBef>
                <a:spcPts val="1200"/>
              </a:spcBef>
              <a:spcAft>
                <a:spcPts val="0"/>
              </a:spcAft>
              <a:buNone/>
            </a:pPr>
            <a:r>
              <a:rPr lang="ja" sz="1600">
                <a:solidFill>
                  <a:schemeClr val="dk1"/>
                </a:solidFill>
              </a:rPr>
              <a:t>②書き込みにかかわらず読み出しは一定周期</a:t>
            </a:r>
            <a:endParaRPr sz="1600">
              <a:solidFill>
                <a:schemeClr val="dk1"/>
              </a:solidFill>
            </a:endParaRPr>
          </a:p>
          <a:p>
            <a:pPr indent="0" lvl="0" marL="0" rtl="0" algn="l">
              <a:spcBef>
                <a:spcPts val="1200"/>
              </a:spcBef>
              <a:spcAft>
                <a:spcPts val="0"/>
              </a:spcAft>
              <a:buNone/>
            </a:pPr>
            <a:r>
              <a:rPr lang="ja" sz="1600">
                <a:solidFill>
                  <a:schemeClr val="dk1"/>
                </a:solidFill>
              </a:rPr>
              <a:t>⇒書き込み完了自体は読み出しのタイミングより早いはずなのにティアリング(Quartusでタイミングも合わせたり，一面書込後のwaitを入れても改善せず）</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ctr">
              <a:spcBef>
                <a:spcPts val="1200"/>
              </a:spcBef>
              <a:spcAft>
                <a:spcPts val="0"/>
              </a:spcAft>
              <a:buNone/>
            </a:pPr>
            <a:r>
              <a:rPr lang="ja" sz="1600">
                <a:solidFill>
                  <a:schemeClr val="dk1"/>
                </a:solidFill>
              </a:rPr>
              <a:t>ダブルバッファリングも考えたが</a:t>
            </a:r>
            <a:endParaRPr sz="1600">
              <a:solidFill>
                <a:schemeClr val="dk1"/>
              </a:solidFill>
            </a:endParaRPr>
          </a:p>
          <a:p>
            <a:pPr indent="0" lvl="0" marL="0" rtl="0" algn="ctr">
              <a:spcBef>
                <a:spcPts val="1200"/>
              </a:spcBef>
              <a:spcAft>
                <a:spcPts val="1200"/>
              </a:spcAft>
              <a:buClr>
                <a:schemeClr val="dk1"/>
              </a:buClr>
              <a:buSzPts val="1100"/>
              <a:buFont typeface="Arial"/>
              <a:buNone/>
            </a:pPr>
            <a:r>
              <a:rPr lang="ja" sz="1600">
                <a:solidFill>
                  <a:schemeClr val="dk1"/>
                </a:solidFill>
              </a:rPr>
              <a:t>木村先生にご助言いただきスプライト方式へ</a:t>
            </a:r>
            <a:endParaRPr sz="1500"/>
          </a:p>
        </p:txBody>
      </p:sp>
      <p:pic>
        <p:nvPicPr>
          <p:cNvPr id="83" name="Google Shape;83;p17" title="423.mp4">
            <a:hlinkClick r:id="rId3"/>
          </p:cNvPr>
          <p:cNvPicPr preferRelativeResize="0"/>
          <p:nvPr/>
        </p:nvPicPr>
        <p:blipFill>
          <a:blip r:embed="rId4">
            <a:alphaModFix/>
          </a:blip>
          <a:stretch>
            <a:fillRect/>
          </a:stretch>
        </p:blipFill>
        <p:spPr>
          <a:xfrm>
            <a:off x="4572000" y="1146175"/>
            <a:ext cx="4260300" cy="3429000"/>
          </a:xfrm>
          <a:prstGeom prst="rect">
            <a:avLst/>
          </a:prstGeom>
          <a:noFill/>
          <a:ln>
            <a:noFill/>
          </a:ln>
        </p:spPr>
      </p:pic>
      <p:sp>
        <p:nvSpPr>
          <p:cNvPr id="84" name="Google Shape;84;p17"/>
          <p:cNvSpPr/>
          <p:nvPr/>
        </p:nvSpPr>
        <p:spPr>
          <a:xfrm>
            <a:off x="2239350" y="3002250"/>
            <a:ext cx="405000" cy="572700"/>
          </a:xfrm>
          <a:prstGeom prst="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520">
                <a:latin typeface="Noto Sans JP"/>
                <a:ea typeface="Noto Sans JP"/>
                <a:cs typeface="Noto Sans JP"/>
                <a:sym typeface="Noto Sans JP"/>
              </a:rPr>
              <a:t>5．スプライト方式</a:t>
            </a:r>
            <a:endParaRPr sz="2520">
              <a:latin typeface="Noto Sans JP"/>
              <a:ea typeface="Noto Sans JP"/>
              <a:cs typeface="Noto Sans JP"/>
              <a:sym typeface="Noto Sans JP"/>
            </a:endParaRPr>
          </a:p>
        </p:txBody>
      </p:sp>
      <p:sp>
        <p:nvSpPr>
          <p:cNvPr id="90" name="Google Shape;90;p18"/>
          <p:cNvSpPr txBox="1"/>
          <p:nvPr>
            <p:ph idx="1" type="body"/>
          </p:nvPr>
        </p:nvSpPr>
        <p:spPr>
          <a:xfrm>
            <a:off x="311700" y="1152475"/>
            <a:ext cx="4260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ja" sz="1600">
                <a:solidFill>
                  <a:srgbClr val="141414"/>
                </a:solidFill>
                <a:latin typeface="Noto Sans JP"/>
                <a:ea typeface="Noto Sans JP"/>
                <a:cs typeface="Noto Sans JP"/>
                <a:sym typeface="Noto Sans JP"/>
              </a:rPr>
              <a:t>画面RAMは背景として残し，出力時にゲーム物体を重ねる形に</a:t>
            </a:r>
            <a:endParaRPr b="1" sz="160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b="1" lang="ja" sz="1600">
                <a:solidFill>
                  <a:srgbClr val="158158"/>
                </a:solidFill>
                <a:latin typeface="Noto Sans JP"/>
                <a:ea typeface="Noto Sans JP"/>
                <a:cs typeface="Noto Sans JP"/>
                <a:sym typeface="Noto Sans JP"/>
              </a:rPr>
              <a:t>CPU側</a:t>
            </a:r>
            <a:endParaRPr b="1" sz="1600">
              <a:solidFill>
                <a:srgbClr val="158158"/>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b="1" lang="ja" sz="1600">
                <a:solidFill>
                  <a:srgbClr val="141414"/>
                </a:solidFill>
                <a:latin typeface="Noto Sans JP"/>
                <a:ea typeface="Noto Sans JP"/>
                <a:cs typeface="Noto Sans JP"/>
                <a:sym typeface="Noto Sans JP"/>
              </a:rPr>
              <a:t>・KEY入力，座標更新，当たり判定</a:t>
            </a:r>
            <a:endParaRPr b="1" sz="160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b="1" lang="ja" sz="1600">
                <a:solidFill>
                  <a:srgbClr val="141414"/>
                </a:solidFill>
                <a:latin typeface="Noto Sans JP"/>
                <a:ea typeface="Noto Sans JP"/>
                <a:cs typeface="Noto Sans JP"/>
                <a:sym typeface="Noto Sans JP"/>
              </a:rPr>
              <a:t>・敵55体のalive bitとスコアをMMIOへ書き込む</a:t>
            </a:r>
            <a:endParaRPr b="1" sz="160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Clr>
                <a:schemeClr val="dk1"/>
              </a:buClr>
              <a:buSzPts val="1100"/>
              <a:buFont typeface="Arial"/>
              <a:buNone/>
            </a:pPr>
            <a:r>
              <a:rPr b="1" lang="ja" sz="1600">
                <a:solidFill>
                  <a:srgbClr val="158158"/>
                </a:solidFill>
                <a:latin typeface="Noto Sans JP"/>
                <a:ea typeface="Noto Sans JP"/>
                <a:cs typeface="Noto Sans JP"/>
                <a:sym typeface="Noto Sans JP"/>
              </a:rPr>
              <a:t>合成順序</a:t>
            </a:r>
            <a:endParaRPr b="1" sz="160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Clr>
                <a:schemeClr val="dk1"/>
              </a:buClr>
              <a:buSzPts val="1100"/>
              <a:buFont typeface="Arial"/>
              <a:buNone/>
            </a:pPr>
            <a:r>
              <a:rPr b="1" lang="ja" sz="1600">
                <a:solidFill>
                  <a:srgbClr val="141414"/>
                </a:solidFill>
                <a:latin typeface="Noto Sans JP"/>
                <a:ea typeface="Noto Sans JP"/>
                <a:cs typeface="Noto Sans JP"/>
                <a:sym typeface="Noto Sans JP"/>
              </a:rPr>
              <a:t>framebuffer（背景），自機sprite，敵グリッド・敵弾，自機弾，スコア表示， HDMI出力　の順番</a:t>
            </a:r>
            <a:endParaRPr b="1" sz="160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200"/>
              </a:spcAft>
              <a:buClr>
                <a:schemeClr val="dk1"/>
              </a:buClr>
              <a:buSzPts val="1100"/>
              <a:buFont typeface="Arial"/>
              <a:buNone/>
            </a:pPr>
            <a:r>
              <a:rPr b="1" lang="ja" sz="1600">
                <a:solidFill>
                  <a:srgbClr val="141414"/>
                </a:solidFill>
                <a:latin typeface="Noto Sans JP"/>
                <a:ea typeface="Noto Sans JP"/>
                <a:cs typeface="Noto Sans JP"/>
                <a:sym typeface="Noto Sans JP"/>
              </a:rPr>
              <a:t>動く物体の状態だけを更新して描画範囲のみ管理</a:t>
            </a:r>
            <a:endParaRPr b="1" sz="1600">
              <a:solidFill>
                <a:srgbClr val="141414"/>
              </a:solidFill>
              <a:latin typeface="Noto Sans JP"/>
              <a:ea typeface="Noto Sans JP"/>
              <a:cs typeface="Noto Sans JP"/>
              <a:sym typeface="Noto Sans JP"/>
            </a:endParaRPr>
          </a:p>
        </p:txBody>
      </p:sp>
      <p:sp>
        <p:nvSpPr>
          <p:cNvPr id="91" name="Google Shape;91;p18"/>
          <p:cNvSpPr txBox="1"/>
          <p:nvPr>
            <p:ph idx="1" type="body"/>
          </p:nvPr>
        </p:nvSpPr>
        <p:spPr>
          <a:xfrm>
            <a:off x="4572000" y="1152475"/>
            <a:ext cx="4260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0"/>
              </a:spcBef>
              <a:spcAft>
                <a:spcPts val="200"/>
              </a:spcAft>
              <a:buNone/>
            </a:pPr>
            <a:r>
              <a:t/>
            </a:r>
            <a:endParaRPr b="1" sz="1500">
              <a:solidFill>
                <a:srgbClr val="141414"/>
              </a:solidFill>
              <a:latin typeface="Noto Sans JP"/>
              <a:ea typeface="Noto Sans JP"/>
              <a:cs typeface="Noto Sans JP"/>
              <a:sym typeface="Noto Sans JP"/>
            </a:endParaRPr>
          </a:p>
        </p:txBody>
      </p:sp>
      <p:pic>
        <p:nvPicPr>
          <p:cNvPr id="92" name="Google Shape;92;p18"/>
          <p:cNvPicPr preferRelativeResize="0"/>
          <p:nvPr/>
        </p:nvPicPr>
        <p:blipFill>
          <a:blip r:embed="rId3">
            <a:alphaModFix/>
          </a:blip>
          <a:stretch>
            <a:fillRect/>
          </a:stretch>
        </p:blipFill>
        <p:spPr>
          <a:xfrm>
            <a:off x="4638200" y="1528425"/>
            <a:ext cx="1650025" cy="1552725"/>
          </a:xfrm>
          <a:prstGeom prst="rect">
            <a:avLst/>
          </a:prstGeom>
          <a:noFill/>
          <a:ln>
            <a:noFill/>
          </a:ln>
        </p:spPr>
      </p:pic>
      <p:sp>
        <p:nvSpPr>
          <p:cNvPr id="93" name="Google Shape;93;p18"/>
          <p:cNvSpPr txBox="1"/>
          <p:nvPr/>
        </p:nvSpPr>
        <p:spPr>
          <a:xfrm>
            <a:off x="4733788" y="3242625"/>
            <a:ext cx="1591200" cy="5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2"/>
                </a:solidFill>
              </a:rPr>
              <a:t>ファミリーベーシック搭載標準スプライト</a:t>
            </a:r>
            <a:endParaRPr sz="1000">
              <a:solidFill>
                <a:schemeClr val="dk2"/>
              </a:solidFill>
            </a:endParaRPr>
          </a:p>
          <a:p>
            <a:pPr indent="0" lvl="0" marL="0" rtl="0" algn="l">
              <a:spcBef>
                <a:spcPts val="0"/>
              </a:spcBef>
              <a:spcAft>
                <a:spcPts val="0"/>
              </a:spcAft>
              <a:buNone/>
            </a:pPr>
            <a:r>
              <a:rPr lang="ja" sz="1000" u="sng">
                <a:solidFill>
                  <a:schemeClr val="hlink"/>
                </a:solidFill>
                <a:hlinkClick r:id="rId4"/>
              </a:rPr>
              <a:t>https://yosshin4004.github.io/famibe/develop/index.html</a:t>
            </a:r>
            <a:r>
              <a:rPr lang="ja" sz="1000">
                <a:solidFill>
                  <a:schemeClr val="dk2"/>
                </a:solidFill>
              </a:rPr>
              <a:t> より</a:t>
            </a:r>
            <a:endParaRPr sz="1000">
              <a:solidFill>
                <a:schemeClr val="dk2"/>
              </a:solidFill>
            </a:endParaRPr>
          </a:p>
        </p:txBody>
      </p:sp>
      <p:pic>
        <p:nvPicPr>
          <p:cNvPr id="94" name="Google Shape;94;p18"/>
          <p:cNvPicPr preferRelativeResize="0"/>
          <p:nvPr/>
        </p:nvPicPr>
        <p:blipFill>
          <a:blip r:embed="rId5">
            <a:alphaModFix/>
          </a:blip>
          <a:stretch>
            <a:fillRect/>
          </a:stretch>
        </p:blipFill>
        <p:spPr>
          <a:xfrm>
            <a:off x="6288225" y="1528425"/>
            <a:ext cx="2484394" cy="1552725"/>
          </a:xfrm>
          <a:prstGeom prst="rect">
            <a:avLst/>
          </a:prstGeom>
          <a:noFill/>
          <a:ln>
            <a:noFill/>
          </a:ln>
        </p:spPr>
      </p:pic>
      <p:sp>
        <p:nvSpPr>
          <p:cNvPr id="95" name="Google Shape;95;p18"/>
          <p:cNvSpPr txBox="1"/>
          <p:nvPr/>
        </p:nvSpPr>
        <p:spPr>
          <a:xfrm>
            <a:off x="6806463" y="3336100"/>
            <a:ext cx="1591200" cy="5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2"/>
                </a:solidFill>
              </a:rPr>
              <a:t>ファミリーベーシック</a:t>
            </a:r>
            <a:endParaRPr sz="1000">
              <a:solidFill>
                <a:schemeClr val="dk2"/>
              </a:solidFill>
            </a:endParaRPr>
          </a:p>
          <a:p>
            <a:pPr indent="0" lvl="0" marL="0" rtl="0" algn="l">
              <a:spcBef>
                <a:spcPts val="0"/>
              </a:spcBef>
              <a:spcAft>
                <a:spcPts val="0"/>
              </a:spcAft>
              <a:buNone/>
            </a:pPr>
            <a:r>
              <a:rPr lang="ja" sz="1000" u="sng">
                <a:solidFill>
                  <a:schemeClr val="hlink"/>
                </a:solidFill>
                <a:hlinkClick r:id="rId6"/>
              </a:rPr>
              <a:t>https://www.youtube.com/watch?v=PHqwMrAduKY</a:t>
            </a:r>
            <a:endParaRPr sz="1000">
              <a:solidFill>
                <a:schemeClr val="dk2"/>
              </a:solidFill>
            </a:endParaRPr>
          </a:p>
          <a:p>
            <a:pPr indent="0" lvl="0" marL="0" rtl="0" algn="l">
              <a:spcBef>
                <a:spcPts val="0"/>
              </a:spcBef>
              <a:spcAft>
                <a:spcPts val="0"/>
              </a:spcAft>
              <a:buNone/>
            </a:pPr>
            <a:r>
              <a:rPr lang="ja" sz="1000">
                <a:solidFill>
                  <a:schemeClr val="dk2"/>
                </a:solidFill>
              </a:rPr>
              <a:t>より</a:t>
            </a:r>
            <a:endParaRPr sz="10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520">
                <a:latin typeface="Noto Sans JP"/>
                <a:ea typeface="Noto Sans JP"/>
                <a:cs typeface="Noto Sans JP"/>
                <a:sym typeface="Noto Sans JP"/>
              </a:rPr>
              <a:t>6．スプライト描画とアニメーション</a:t>
            </a:r>
            <a:endParaRPr sz="2520">
              <a:latin typeface="Noto Sans JP"/>
              <a:ea typeface="Noto Sans JP"/>
              <a:cs typeface="Noto Sans JP"/>
              <a:sym typeface="Noto Sans JP"/>
            </a:endParaRPr>
          </a:p>
        </p:txBody>
      </p:sp>
      <p:sp>
        <p:nvSpPr>
          <p:cNvPr id="101" name="Google Shape;101;p19"/>
          <p:cNvSpPr txBox="1"/>
          <p:nvPr>
            <p:ph idx="1" type="body"/>
          </p:nvPr>
        </p:nvSpPr>
        <p:spPr>
          <a:xfrm>
            <a:off x="311700" y="1152475"/>
            <a:ext cx="4260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ja" sz="1750">
                <a:solidFill>
                  <a:srgbClr val="158158"/>
                </a:solidFill>
                <a:latin typeface="Noto Sans JP"/>
                <a:ea typeface="Noto Sans JP"/>
                <a:cs typeface="Noto Sans JP"/>
                <a:sym typeface="Noto Sans JP"/>
              </a:rPr>
              <a:t>表示方法</a:t>
            </a:r>
            <a:endParaRPr b="1" sz="1750">
              <a:solidFill>
                <a:srgbClr val="158158"/>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lang="ja" sz="1450">
                <a:solidFill>
                  <a:srgbClr val="141414"/>
                </a:solidFill>
                <a:latin typeface="Noto Sans JP"/>
                <a:ea typeface="Noto Sans JP"/>
                <a:cs typeface="Noto Sans JP"/>
                <a:sym typeface="Noto Sans JP"/>
              </a:rPr>
              <a:t>・CPUが座標／有効／生存状態をMMIOへ書く</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lang="ja" sz="1450">
                <a:solidFill>
                  <a:srgbClr val="141414"/>
                </a:solidFill>
                <a:latin typeface="Noto Sans JP"/>
                <a:ea typeface="Noto Sans JP"/>
                <a:cs typeface="Noto Sans JP"/>
                <a:sym typeface="Noto Sans JP"/>
              </a:rPr>
              <a:t>・映像側で画素座標と形状bitを比較</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lang="ja" sz="1450">
                <a:solidFill>
                  <a:srgbClr val="141414"/>
                </a:solidFill>
                <a:latin typeface="Noto Sans JP"/>
                <a:ea typeface="Noto Sans JP"/>
                <a:cs typeface="Noto Sans JP"/>
                <a:sym typeface="Noto Sans JP"/>
              </a:rPr>
              <a:t>・bit=1の画素だけ背景RGBを置換</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b="1" lang="ja" sz="1750">
                <a:solidFill>
                  <a:srgbClr val="158158"/>
                </a:solidFill>
                <a:latin typeface="Noto Sans JP"/>
                <a:ea typeface="Noto Sans JP"/>
                <a:cs typeface="Noto Sans JP"/>
                <a:sym typeface="Noto Sans JP"/>
              </a:rPr>
              <a:t>敵スプライト</a:t>
            </a:r>
            <a:endParaRPr b="1" sz="1750">
              <a:solidFill>
                <a:srgbClr val="158158"/>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lang="ja" sz="1450">
                <a:solidFill>
                  <a:srgbClr val="141414"/>
                </a:solidFill>
                <a:latin typeface="Noto Sans JP"/>
                <a:ea typeface="Noto Sans JP"/>
                <a:cs typeface="Noto Sans JP"/>
                <a:sym typeface="Noto Sans JP"/>
              </a:rPr>
              <a:t>・55体を5×11 gridとして描画</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lang="ja" sz="1450">
                <a:solidFill>
                  <a:srgbClr val="141414"/>
                </a:solidFill>
                <a:latin typeface="Noto Sans JP"/>
                <a:ea typeface="Noto Sans JP"/>
                <a:cs typeface="Noto Sans JP"/>
                <a:sym typeface="Noto Sans JP"/>
              </a:rPr>
              <a:t>・上／中／下段の3形状，各2コマ（上だけ1体)</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lang="ja" sz="1450">
                <a:solidFill>
                  <a:srgbClr val="141414"/>
                </a:solidFill>
                <a:latin typeface="Noto Sans JP"/>
                <a:ea typeface="Noto Sans JP"/>
                <a:cs typeface="Noto Sans JP"/>
                <a:sym typeface="Noto Sans JP"/>
              </a:rPr>
              <a:t>・1px移動ごとに全55体を一斉に切り替える</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lang="ja" sz="1450">
                <a:solidFill>
                  <a:srgbClr val="141414"/>
                </a:solidFill>
                <a:latin typeface="Noto Sans JP"/>
                <a:ea typeface="Noto Sans JP"/>
                <a:cs typeface="Noto Sans JP"/>
                <a:sym typeface="Noto Sans JP"/>
              </a:rPr>
              <a:t>・試行段階では左半分</a:t>
            </a:r>
            <a:r>
              <a:rPr lang="ja" sz="1450">
                <a:solidFill>
                  <a:srgbClr val="141414"/>
                </a:solidFill>
                <a:latin typeface="Noto Sans JP"/>
                <a:ea typeface="Noto Sans JP"/>
                <a:cs typeface="Noto Sans JP"/>
                <a:sym typeface="Noto Sans JP"/>
              </a:rPr>
              <a:t>3</a:t>
            </a:r>
            <a:r>
              <a:rPr lang="ja" sz="1450">
                <a:solidFill>
                  <a:srgbClr val="141414"/>
                </a:solidFill>
                <a:latin typeface="Noto Sans JP"/>
                <a:ea typeface="Noto Sans JP"/>
                <a:cs typeface="Noto Sans JP"/>
                <a:sym typeface="Noto Sans JP"/>
              </a:rPr>
              <a:t>bitを保持し，右半分を鏡面生成...みたいな感じにした</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b="1" lang="ja" sz="1450">
                <a:solidFill>
                  <a:srgbClr val="141414"/>
                </a:solidFill>
                <a:latin typeface="Noto Sans JP"/>
                <a:ea typeface="Noto Sans JP"/>
                <a:cs typeface="Noto Sans JP"/>
                <a:sym typeface="Noto Sans JP"/>
              </a:rPr>
              <a:t>・</a:t>
            </a:r>
            <a:r>
              <a:rPr lang="ja" sz="1450">
                <a:solidFill>
                  <a:srgbClr val="141414"/>
                </a:solidFill>
                <a:latin typeface="Noto Sans JP"/>
                <a:ea typeface="Noto Sans JP"/>
                <a:cs typeface="Noto Sans JP"/>
                <a:sym typeface="Noto Sans JP"/>
              </a:rPr>
              <a:t>288bit→144bitにできた</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0"/>
              </a:spcAft>
              <a:buNone/>
            </a:pPr>
            <a:r>
              <a:rPr lang="ja" sz="1450">
                <a:solidFill>
                  <a:srgbClr val="141414"/>
                </a:solidFill>
                <a:latin typeface="Noto Sans JP"/>
                <a:ea typeface="Noto Sans JP"/>
                <a:cs typeface="Noto Sans JP"/>
                <a:sym typeface="Noto Sans JP"/>
              </a:rPr>
              <a:t>・最終案だと8*12にしたが，理屈は同じ</a:t>
            </a:r>
            <a:endParaRPr sz="1450">
              <a:solidFill>
                <a:srgbClr val="141414"/>
              </a:solidFill>
              <a:latin typeface="Noto Sans JP"/>
              <a:ea typeface="Noto Sans JP"/>
              <a:cs typeface="Noto Sans JP"/>
              <a:sym typeface="Noto Sans JP"/>
            </a:endParaRPr>
          </a:p>
          <a:p>
            <a:pPr indent="0" lvl="0" marL="0" rtl="0" algn="l">
              <a:lnSpc>
                <a:spcPct val="100000"/>
              </a:lnSpc>
              <a:spcBef>
                <a:spcPts val="200"/>
              </a:spcBef>
              <a:spcAft>
                <a:spcPts val="200"/>
              </a:spcAft>
              <a:buNone/>
            </a:pPr>
            <a:r>
              <a:t/>
            </a:r>
            <a:endParaRPr sz="1450">
              <a:solidFill>
                <a:srgbClr val="141414"/>
              </a:solidFill>
              <a:latin typeface="Noto Sans JP"/>
              <a:ea typeface="Noto Sans JP"/>
              <a:cs typeface="Noto Sans JP"/>
              <a:sym typeface="Noto Sans JP"/>
            </a:endParaRPr>
          </a:p>
        </p:txBody>
      </p:sp>
      <p:sp>
        <p:nvSpPr>
          <p:cNvPr id="102" name="Google Shape;102;p19"/>
          <p:cNvSpPr txBox="1"/>
          <p:nvPr>
            <p:ph idx="1" type="body"/>
          </p:nvPr>
        </p:nvSpPr>
        <p:spPr>
          <a:xfrm>
            <a:off x="4572000" y="1152475"/>
            <a:ext cx="4260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5000"/>
              </a:lnSpc>
              <a:spcBef>
                <a:spcPts val="0"/>
              </a:spcBef>
              <a:spcAft>
                <a:spcPts val="0"/>
              </a:spcAft>
              <a:buNone/>
            </a:pPr>
            <a:r>
              <a:t/>
            </a:r>
            <a:endParaRPr b="1" sz="1500">
              <a:solidFill>
                <a:srgbClr val="141414"/>
              </a:solidFill>
              <a:latin typeface="Noto Sans JP"/>
              <a:ea typeface="Noto Sans JP"/>
              <a:cs typeface="Noto Sans JP"/>
              <a:sym typeface="Noto Sans JP"/>
            </a:endParaRPr>
          </a:p>
        </p:txBody>
      </p:sp>
      <p:pic>
        <p:nvPicPr>
          <p:cNvPr id="103" name="Google Shape;103;p19" title="敵スプライト説明図.png"/>
          <p:cNvPicPr preferRelativeResize="0"/>
          <p:nvPr/>
        </p:nvPicPr>
        <p:blipFill>
          <a:blip r:embed="rId3">
            <a:alphaModFix/>
          </a:blip>
          <a:stretch>
            <a:fillRect/>
          </a:stretch>
        </p:blipFill>
        <p:spPr>
          <a:xfrm>
            <a:off x="4571992" y="1145038"/>
            <a:ext cx="4575060" cy="34312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71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7.1</a:t>
            </a:r>
            <a:r>
              <a:rPr lang="ja"/>
              <a:t>全体像</a:t>
            </a:r>
            <a:endParaRPr/>
          </a:p>
        </p:txBody>
      </p:sp>
      <p:pic>
        <p:nvPicPr>
          <p:cNvPr id="109" name="Google Shape;109;p20" title="triscvゲーム全体像_詳細.png"/>
          <p:cNvPicPr preferRelativeResize="0"/>
          <p:nvPr/>
        </p:nvPicPr>
        <p:blipFill>
          <a:blip r:embed="rId3">
            <a:alphaModFix/>
          </a:blip>
          <a:stretch>
            <a:fillRect/>
          </a:stretch>
        </p:blipFill>
        <p:spPr>
          <a:xfrm>
            <a:off x="526788" y="644327"/>
            <a:ext cx="8090424" cy="3112925"/>
          </a:xfrm>
          <a:prstGeom prst="rect">
            <a:avLst/>
          </a:prstGeom>
          <a:noFill/>
          <a:ln>
            <a:noFill/>
          </a:ln>
        </p:spPr>
      </p:pic>
      <p:pic>
        <p:nvPicPr>
          <p:cNvPr id="110" name="Google Shape;110;p20" title="triscvゲーム全体像_詳細2.png"/>
          <p:cNvPicPr preferRelativeResize="0"/>
          <p:nvPr/>
        </p:nvPicPr>
        <p:blipFill>
          <a:blip r:embed="rId4">
            <a:alphaModFix/>
          </a:blip>
          <a:stretch>
            <a:fillRect/>
          </a:stretch>
        </p:blipFill>
        <p:spPr>
          <a:xfrm>
            <a:off x="361600" y="3757251"/>
            <a:ext cx="8420803" cy="1044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7.2MMIO一覧(</a:t>
            </a:r>
            <a:r>
              <a:rPr lang="ja"/>
              <a:t>抜粋)</a:t>
            </a:r>
            <a:endParaRPr/>
          </a:p>
        </p:txBody>
      </p:sp>
      <p:sp>
        <p:nvSpPr>
          <p:cNvPr id="116" name="Google Shape;116;p21"/>
          <p:cNvSpPr txBox="1"/>
          <p:nvPr/>
        </p:nvSpPr>
        <p:spPr>
          <a:xfrm>
            <a:off x="228600" y="1041400"/>
            <a:ext cx="42798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000">
                <a:solidFill>
                  <a:srgbClr val="158158"/>
                </a:solidFill>
                <a:latin typeface="Noto Sans JP"/>
                <a:ea typeface="Noto Sans JP"/>
                <a:cs typeface="Noto Sans JP"/>
                <a:sym typeface="Noto Sans JP"/>
              </a:rPr>
              <a:t>表1　性能計測・入力・自機／自機弾</a:t>
            </a:r>
            <a:endParaRPr b="1" sz="1000">
              <a:solidFill>
                <a:srgbClr val="158158"/>
              </a:solidFill>
              <a:latin typeface="Noto Sans JP"/>
              <a:ea typeface="Noto Sans JP"/>
              <a:cs typeface="Noto Sans JP"/>
              <a:sym typeface="Noto Sans JP"/>
            </a:endParaRPr>
          </a:p>
        </p:txBody>
      </p:sp>
      <p:graphicFrame>
        <p:nvGraphicFramePr>
          <p:cNvPr id="117" name="Google Shape;117;p21"/>
          <p:cNvGraphicFramePr/>
          <p:nvPr/>
        </p:nvGraphicFramePr>
        <p:xfrm>
          <a:off x="228600" y="1308100"/>
          <a:ext cx="3000000" cy="3000000"/>
        </p:xfrm>
        <a:graphic>
          <a:graphicData uri="http://schemas.openxmlformats.org/drawingml/2006/table">
            <a:tbl>
              <a:tblPr>
                <a:noFill/>
                <a:tableStyleId>{16CB2F3C-906E-4F17-8535-1989AEAC03CE}</a:tableStyleId>
              </a:tblPr>
              <a:tblGrid>
                <a:gridCol w="787400"/>
                <a:gridCol w="990600"/>
                <a:gridCol w="406400"/>
                <a:gridCol w="736600"/>
                <a:gridCol w="1358900"/>
              </a:tblGrid>
              <a:tr h="279400">
                <a:tc>
                  <a:txBody>
                    <a:bodyPr/>
                    <a:lstStyle/>
                    <a:p>
                      <a:pPr indent="0" lvl="0" marL="0" rtl="0" algn="l">
                        <a:spcBef>
                          <a:spcPts val="0"/>
                        </a:spcBef>
                        <a:spcAft>
                          <a:spcPts val="0"/>
                        </a:spcAft>
                        <a:buNone/>
                      </a:pPr>
                      <a:r>
                        <a:rPr b="1" lang="ja" sz="720">
                          <a:solidFill>
                            <a:srgbClr val="141414"/>
                          </a:solidFill>
                        </a:rPr>
                        <a:t>アドレス</a:t>
                      </a:r>
                      <a:endParaRPr b="1" sz="720">
                        <a:solidFill>
                          <a:srgbClr val="141414"/>
                        </a:solidFill>
                      </a:endParaRPr>
                    </a:p>
                  </a:txBody>
                  <a:tcPr marT="91425" marB="91425" marR="91425" marL="91425"/>
                </a:tc>
                <a:tc>
                  <a:txBody>
                    <a:bodyPr/>
                    <a:lstStyle/>
                    <a:p>
                      <a:pPr indent="0" lvl="0" marL="0" rtl="0" algn="l">
                        <a:spcBef>
                          <a:spcPts val="0"/>
                        </a:spcBef>
                        <a:spcAft>
                          <a:spcPts val="0"/>
                        </a:spcAft>
                        <a:buNone/>
                      </a:pPr>
                      <a:r>
                        <a:rPr b="1" lang="ja" sz="720">
                          <a:solidFill>
                            <a:srgbClr val="141414"/>
                          </a:solidFill>
                        </a:rPr>
                        <a:t>名前</a:t>
                      </a:r>
                      <a:endParaRPr b="1" sz="720">
                        <a:solidFill>
                          <a:srgbClr val="141414"/>
                        </a:solidFill>
                      </a:endParaRPr>
                    </a:p>
                  </a:txBody>
                  <a:tcPr marT="91425" marB="91425" marR="91425" marL="91425"/>
                </a:tc>
                <a:tc>
                  <a:txBody>
                    <a:bodyPr/>
                    <a:lstStyle/>
                    <a:p>
                      <a:pPr indent="0" lvl="0" marL="0" rtl="0" algn="l">
                        <a:spcBef>
                          <a:spcPts val="0"/>
                        </a:spcBef>
                        <a:spcAft>
                          <a:spcPts val="0"/>
                        </a:spcAft>
                        <a:buNone/>
                      </a:pPr>
                      <a:r>
                        <a:rPr b="1" lang="ja" sz="720">
                          <a:solidFill>
                            <a:srgbClr val="141414"/>
                          </a:solidFill>
                        </a:rPr>
                        <a:t>R/W</a:t>
                      </a:r>
                      <a:endParaRPr b="1" sz="720">
                        <a:solidFill>
                          <a:srgbClr val="141414"/>
                        </a:solidFill>
                      </a:endParaRPr>
                    </a:p>
                  </a:txBody>
                  <a:tcPr marT="91425" marB="91425" marR="91425" marL="91425"/>
                </a:tc>
                <a:tc>
                  <a:txBody>
                    <a:bodyPr/>
                    <a:lstStyle/>
                    <a:p>
                      <a:pPr indent="0" lvl="0" marL="0" rtl="0" algn="l">
                        <a:spcBef>
                          <a:spcPts val="0"/>
                        </a:spcBef>
                        <a:spcAft>
                          <a:spcPts val="0"/>
                        </a:spcAft>
                        <a:buNone/>
                      </a:pPr>
                      <a:r>
                        <a:rPr b="1" lang="ja" sz="720">
                          <a:solidFill>
                            <a:srgbClr val="141414"/>
                          </a:solidFill>
                        </a:rPr>
                        <a:t>有効bit</a:t>
                      </a:r>
                      <a:endParaRPr b="1" sz="720">
                        <a:solidFill>
                          <a:srgbClr val="141414"/>
                        </a:solidFill>
                      </a:endParaRPr>
                    </a:p>
                  </a:txBody>
                  <a:tcPr marT="91425" marB="91425" marR="91425" marL="91425"/>
                </a:tc>
                <a:tc>
                  <a:txBody>
                    <a:bodyPr/>
                    <a:lstStyle/>
                    <a:p>
                      <a:pPr indent="0" lvl="0" marL="0" rtl="0" algn="l">
                        <a:spcBef>
                          <a:spcPts val="0"/>
                        </a:spcBef>
                        <a:spcAft>
                          <a:spcPts val="0"/>
                        </a:spcAft>
                        <a:buNone/>
                      </a:pPr>
                      <a:r>
                        <a:rPr b="1" lang="ja" sz="720">
                          <a:solidFill>
                            <a:srgbClr val="141414"/>
                          </a:solidFill>
                        </a:rPr>
                        <a:t>内容／初期値</a:t>
                      </a:r>
                      <a:endParaRPr b="1"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0x0008_0000</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PERF_START</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値不問</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計測開始・counter=0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0x0008_0004</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PERF_STOP</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値不問</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計測停止・結果を保存</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0x0008_0008</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PERF_RESULT</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[31:0]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計測クロック数</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0x0008_000C</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PERF_STATUS</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[1],[0]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running／60Hz判定(無意味)</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0x0008_0010</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KEY_STATE</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[1:0]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KEY1／KEY0（押下=1）</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0x0008_0020</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SPRITE0_X</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[8:0]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自機X／初期295</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0x0008_0024</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SPRITE0_Y</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[7:0]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自機Y／初期82</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0x0008_0028</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SPRITE0_ENABLE</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自機表示／初期0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0x0008_002C</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SPRITE0_COLOR</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[23:0]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RGB／初期0x00FF00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0x0008_0030</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SPRITE1_X</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[8:0]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自機弾X／初期0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0x0008_0034</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SPRITE1_Y</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[7:0]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自機弾Y／初期0</a:t>
                      </a:r>
                      <a:endParaRPr sz="720">
                        <a:solidFill>
                          <a:srgbClr val="141414"/>
                        </a:solidFill>
                      </a:endParaRPr>
                    </a:p>
                  </a:txBody>
                  <a:tcPr marT="91425" marB="91425" marR="91425" marL="91425"/>
                </a:tc>
              </a:tr>
            </a:tbl>
          </a:graphicData>
        </a:graphic>
      </p:graphicFrame>
      <p:sp>
        <p:nvSpPr>
          <p:cNvPr id="118" name="Google Shape;118;p21"/>
          <p:cNvSpPr txBox="1"/>
          <p:nvPr/>
        </p:nvSpPr>
        <p:spPr>
          <a:xfrm>
            <a:off x="4635500" y="1041400"/>
            <a:ext cx="42798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000">
                <a:solidFill>
                  <a:srgbClr val="158158"/>
                </a:solidFill>
                <a:latin typeface="Noto Sans JP"/>
                <a:ea typeface="Noto Sans JP"/>
                <a:cs typeface="Noto Sans JP"/>
                <a:sym typeface="Noto Sans JP"/>
              </a:rPr>
              <a:t>表2　自機弾・敵・スコア</a:t>
            </a:r>
            <a:endParaRPr b="1" sz="1000">
              <a:solidFill>
                <a:srgbClr val="158158"/>
              </a:solidFill>
              <a:latin typeface="Noto Sans JP"/>
              <a:ea typeface="Noto Sans JP"/>
              <a:cs typeface="Noto Sans JP"/>
              <a:sym typeface="Noto Sans JP"/>
            </a:endParaRPr>
          </a:p>
        </p:txBody>
      </p:sp>
      <p:graphicFrame>
        <p:nvGraphicFramePr>
          <p:cNvPr id="119" name="Google Shape;119;p21"/>
          <p:cNvGraphicFramePr/>
          <p:nvPr/>
        </p:nvGraphicFramePr>
        <p:xfrm>
          <a:off x="4635500" y="1308100"/>
          <a:ext cx="3000000" cy="3000000"/>
        </p:xfrm>
        <a:graphic>
          <a:graphicData uri="http://schemas.openxmlformats.org/drawingml/2006/table">
            <a:tbl>
              <a:tblPr>
                <a:noFill/>
                <a:tableStyleId>{16CB2F3C-906E-4F17-8535-1989AEAC03CE}</a:tableStyleId>
              </a:tblPr>
              <a:tblGrid>
                <a:gridCol w="787400"/>
                <a:gridCol w="990600"/>
                <a:gridCol w="406400"/>
                <a:gridCol w="736600"/>
                <a:gridCol w="1358900"/>
              </a:tblGrid>
              <a:tr h="279400">
                <a:tc>
                  <a:txBody>
                    <a:bodyPr/>
                    <a:lstStyle/>
                    <a:p>
                      <a:pPr indent="0" lvl="0" marL="0" rtl="0" algn="l">
                        <a:spcBef>
                          <a:spcPts val="0"/>
                        </a:spcBef>
                        <a:spcAft>
                          <a:spcPts val="0"/>
                        </a:spcAft>
                        <a:buNone/>
                      </a:pPr>
                      <a:r>
                        <a:rPr b="1" lang="ja" sz="720">
                          <a:solidFill>
                            <a:srgbClr val="141414"/>
                          </a:solidFill>
                        </a:rPr>
                        <a:t>アドレス</a:t>
                      </a:r>
                      <a:endParaRPr b="1" sz="720">
                        <a:solidFill>
                          <a:srgbClr val="141414"/>
                        </a:solidFill>
                      </a:endParaRPr>
                    </a:p>
                  </a:txBody>
                  <a:tcPr marT="91425" marB="91425" marR="91425" marL="91425"/>
                </a:tc>
                <a:tc>
                  <a:txBody>
                    <a:bodyPr/>
                    <a:lstStyle/>
                    <a:p>
                      <a:pPr indent="0" lvl="0" marL="0" rtl="0" algn="l">
                        <a:spcBef>
                          <a:spcPts val="0"/>
                        </a:spcBef>
                        <a:spcAft>
                          <a:spcPts val="0"/>
                        </a:spcAft>
                        <a:buNone/>
                      </a:pPr>
                      <a:r>
                        <a:rPr b="1" lang="ja" sz="720">
                          <a:solidFill>
                            <a:srgbClr val="141414"/>
                          </a:solidFill>
                        </a:rPr>
                        <a:t>名前</a:t>
                      </a:r>
                      <a:endParaRPr b="1" sz="720">
                        <a:solidFill>
                          <a:srgbClr val="141414"/>
                        </a:solidFill>
                      </a:endParaRPr>
                    </a:p>
                  </a:txBody>
                  <a:tcPr marT="91425" marB="91425" marR="91425" marL="91425"/>
                </a:tc>
                <a:tc>
                  <a:txBody>
                    <a:bodyPr/>
                    <a:lstStyle/>
                    <a:p>
                      <a:pPr indent="0" lvl="0" marL="0" rtl="0" algn="l">
                        <a:spcBef>
                          <a:spcPts val="0"/>
                        </a:spcBef>
                        <a:spcAft>
                          <a:spcPts val="0"/>
                        </a:spcAft>
                        <a:buNone/>
                      </a:pPr>
                      <a:r>
                        <a:rPr b="1" lang="ja" sz="720">
                          <a:solidFill>
                            <a:srgbClr val="141414"/>
                          </a:solidFill>
                        </a:rPr>
                        <a:t>R/W</a:t>
                      </a:r>
                      <a:endParaRPr b="1" sz="720">
                        <a:solidFill>
                          <a:srgbClr val="141414"/>
                        </a:solidFill>
                      </a:endParaRPr>
                    </a:p>
                  </a:txBody>
                  <a:tcPr marT="91425" marB="91425" marR="91425" marL="91425"/>
                </a:tc>
                <a:tc>
                  <a:txBody>
                    <a:bodyPr/>
                    <a:lstStyle/>
                    <a:p>
                      <a:pPr indent="0" lvl="0" marL="0" rtl="0" algn="l">
                        <a:spcBef>
                          <a:spcPts val="0"/>
                        </a:spcBef>
                        <a:spcAft>
                          <a:spcPts val="0"/>
                        </a:spcAft>
                        <a:buNone/>
                      </a:pPr>
                      <a:r>
                        <a:rPr b="1" lang="ja" sz="720">
                          <a:solidFill>
                            <a:srgbClr val="141414"/>
                          </a:solidFill>
                        </a:rPr>
                        <a:t>有効bit</a:t>
                      </a:r>
                      <a:endParaRPr b="1" sz="720">
                        <a:solidFill>
                          <a:srgbClr val="141414"/>
                        </a:solidFill>
                      </a:endParaRPr>
                    </a:p>
                  </a:txBody>
                  <a:tcPr marT="91425" marB="91425" marR="91425" marL="91425"/>
                </a:tc>
                <a:tc>
                  <a:txBody>
                    <a:bodyPr/>
                    <a:lstStyle/>
                    <a:p>
                      <a:pPr indent="0" lvl="0" marL="0" rtl="0" algn="l">
                        <a:spcBef>
                          <a:spcPts val="0"/>
                        </a:spcBef>
                        <a:spcAft>
                          <a:spcPts val="0"/>
                        </a:spcAft>
                        <a:buNone/>
                      </a:pPr>
                      <a:r>
                        <a:rPr b="1" lang="ja" sz="720">
                          <a:solidFill>
                            <a:srgbClr val="141414"/>
                          </a:solidFill>
                        </a:rPr>
                        <a:t>内容／初期値</a:t>
                      </a:r>
                      <a:endParaRPr b="1"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0x0008_0038</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SPRITE1_ENABLE</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自機弾表示／初期0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0x0008_0040</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ENEMY_BASE_X</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[8:0]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敵grid基準X／初期20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0x0008_0044</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ENEMY_BASE_Y</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[7:0]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敵grid基準Y／初期18</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0x0008_0048</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ENEMY_ALIVE_LO</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[31:0]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敵0–31生存／初期全1</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0x0008_004C</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ENEMY_ALIVE_HI</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[22:0]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敵32–54生存／初期全1</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0x0008_0050</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ENEMY_ENABLE</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敵表示／初期0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0x0008_0054</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SCORE_BCD</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[7:4],[3:0]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十の位／一の位・初期00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0x0008_0058</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ENEMY_BULLET_X</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[8:0]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敵弾X／初期0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0x0008_005C</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ENEMY_BULLET_Y</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[7:0]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敵弾Y／初期0</a:t>
                      </a:r>
                      <a:endParaRPr sz="720">
                        <a:solidFill>
                          <a:srgbClr val="141414"/>
                        </a:solidFill>
                      </a:endParaRPr>
                    </a:p>
                  </a:txBody>
                  <a:tcPr marT="91425" marB="91425" marR="91425" marL="91425"/>
                </a:tc>
              </a:tr>
              <a:tr h="279400">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0x0008_0060</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650">
                          <a:solidFill>
                            <a:srgbClr val="188038"/>
                          </a:solidFill>
                          <a:latin typeface="Roboto Mono"/>
                          <a:ea typeface="Roboto Mono"/>
                          <a:cs typeface="Roboto Mono"/>
                          <a:sym typeface="Roboto Mono"/>
                        </a:rPr>
                        <a:t>ENEMY_BULLET_ENABLE</a:t>
                      </a:r>
                      <a:endParaRPr sz="65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R/W</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[0]</a:t>
                      </a:r>
                      <a:endParaRPr sz="720">
                        <a:solidFill>
                          <a:srgbClr val="141414"/>
                        </a:solidFill>
                      </a:endParaRPr>
                    </a:p>
                  </a:txBody>
                  <a:tcPr marT="91425" marB="91425" marR="91425" marL="91425"/>
                </a:tc>
                <a:tc>
                  <a:txBody>
                    <a:bodyPr/>
                    <a:lstStyle/>
                    <a:p>
                      <a:pPr indent="0" lvl="0" marL="0" rtl="0" algn="l">
                        <a:spcBef>
                          <a:spcPts val="0"/>
                        </a:spcBef>
                        <a:spcAft>
                          <a:spcPts val="0"/>
                        </a:spcAft>
                        <a:buNone/>
                      </a:pPr>
                      <a:r>
                        <a:rPr lang="ja" sz="720">
                          <a:solidFill>
                            <a:srgbClr val="141414"/>
                          </a:solidFill>
                        </a:rPr>
                        <a:t>敵弾表示／初期0</a:t>
                      </a:r>
                      <a:endParaRPr sz="720">
                        <a:solidFill>
                          <a:srgbClr val="141414"/>
                        </a:solidFill>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520">
                <a:latin typeface="Noto Sans JP"/>
                <a:ea typeface="Noto Sans JP"/>
                <a:cs typeface="Noto Sans JP"/>
                <a:sym typeface="Noto Sans JP"/>
              </a:rPr>
              <a:t>実機動作動画</a:t>
            </a:r>
            <a:endParaRPr sz="2520">
              <a:latin typeface="Noto Sans JP"/>
              <a:ea typeface="Noto Sans JP"/>
              <a:cs typeface="Noto Sans JP"/>
              <a:sym typeface="Noto Sans JP"/>
            </a:endParaRPr>
          </a:p>
        </p:txBody>
      </p:sp>
      <p:sp>
        <p:nvSpPr>
          <p:cNvPr id="125" name="Google Shape;125;p22"/>
          <p:cNvSpPr txBox="1"/>
          <p:nvPr>
            <p:ph idx="1" type="body"/>
          </p:nvPr>
        </p:nvSpPr>
        <p:spPr>
          <a:xfrm>
            <a:off x="4572000" y="1152475"/>
            <a:ext cx="42603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t/>
            </a:r>
            <a:endParaRPr b="1" sz="1900">
              <a:solidFill>
                <a:srgbClr val="158158"/>
              </a:solidFill>
              <a:latin typeface="Noto Sans JP"/>
              <a:ea typeface="Noto Sans JP"/>
              <a:cs typeface="Noto Sans JP"/>
              <a:sym typeface="Noto Sans JP"/>
            </a:endParaRPr>
          </a:p>
          <a:p>
            <a:pPr indent="0" lvl="0" marL="0" rtl="0" algn="l">
              <a:lnSpc>
                <a:spcPct val="105000"/>
              </a:lnSpc>
              <a:spcBef>
                <a:spcPts val="500"/>
              </a:spcBef>
              <a:spcAft>
                <a:spcPts val="0"/>
              </a:spcAft>
              <a:buNone/>
            </a:pPr>
            <a:r>
              <a:rPr lang="ja" sz="1600">
                <a:solidFill>
                  <a:srgbClr val="141414"/>
                </a:solidFill>
                <a:latin typeface="Noto Sans JP"/>
                <a:ea typeface="Noto Sans JP"/>
                <a:cs typeface="Noto Sans JP"/>
                <a:sym typeface="Noto Sans JP"/>
              </a:rPr>
              <a:t>・KEY操作による自機移動</a:t>
            </a:r>
            <a:endParaRPr sz="16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0"/>
              </a:spcAft>
              <a:buNone/>
            </a:pPr>
            <a:r>
              <a:rPr lang="ja" sz="1600">
                <a:solidFill>
                  <a:srgbClr val="141414"/>
                </a:solidFill>
                <a:latin typeface="Noto Sans JP"/>
                <a:ea typeface="Noto Sans JP"/>
                <a:cs typeface="Noto Sans JP"/>
                <a:sym typeface="Noto Sans JP"/>
              </a:rPr>
              <a:t>・弾の自動発射，敵弾，当たり判定</a:t>
            </a:r>
            <a:endParaRPr sz="16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0"/>
              </a:spcAft>
              <a:buNone/>
            </a:pPr>
            <a:r>
              <a:rPr lang="ja" sz="1600">
                <a:solidFill>
                  <a:srgbClr val="141414"/>
                </a:solidFill>
                <a:latin typeface="Noto Sans JP"/>
                <a:ea typeface="Noto Sans JP"/>
                <a:cs typeface="Noto Sans JP"/>
                <a:sym typeface="Noto Sans JP"/>
              </a:rPr>
              <a:t>・敵3種類の2コマ切替</a:t>
            </a:r>
            <a:endParaRPr sz="16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0"/>
              </a:spcAft>
              <a:buNone/>
            </a:pPr>
            <a:r>
              <a:rPr lang="ja" sz="1600">
                <a:solidFill>
                  <a:srgbClr val="141414"/>
                </a:solidFill>
                <a:latin typeface="Noto Sans JP"/>
                <a:ea typeface="Noto Sans JP"/>
                <a:cs typeface="Noto Sans JP"/>
                <a:sym typeface="Noto Sans JP"/>
              </a:rPr>
              <a:t>・撃破数表示</a:t>
            </a:r>
            <a:endParaRPr sz="16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0"/>
              </a:spcAft>
              <a:buNone/>
            </a:pPr>
            <a:r>
              <a:t/>
            </a:r>
            <a:endParaRPr sz="16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0"/>
              </a:spcAft>
              <a:buNone/>
            </a:pPr>
            <a:r>
              <a:rPr lang="ja" sz="1600">
                <a:solidFill>
                  <a:srgbClr val="141414"/>
                </a:solidFill>
                <a:latin typeface="Noto Sans JP"/>
                <a:ea typeface="Noto Sans JP"/>
                <a:cs typeface="Noto Sans JP"/>
                <a:sym typeface="Noto Sans JP"/>
              </a:rPr>
              <a:t>・端の列が全滅した場合，次の生存列を新しい端として判定</a:t>
            </a:r>
            <a:endParaRPr sz="1600">
              <a:solidFill>
                <a:srgbClr val="141414"/>
              </a:solidFill>
              <a:latin typeface="Noto Sans JP"/>
              <a:ea typeface="Noto Sans JP"/>
              <a:cs typeface="Noto Sans JP"/>
              <a:sym typeface="Noto Sans JP"/>
            </a:endParaRPr>
          </a:p>
          <a:p>
            <a:pPr indent="0" lvl="0" marL="0" rtl="0" algn="l">
              <a:lnSpc>
                <a:spcPct val="105000"/>
              </a:lnSpc>
              <a:spcBef>
                <a:spcPts val="500"/>
              </a:spcBef>
              <a:spcAft>
                <a:spcPts val="500"/>
              </a:spcAft>
              <a:buNone/>
            </a:pPr>
            <a:r>
              <a:rPr lang="ja" sz="1600">
                <a:solidFill>
                  <a:srgbClr val="141414"/>
                </a:solidFill>
                <a:latin typeface="Noto Sans JP"/>
                <a:ea typeface="Noto Sans JP"/>
                <a:cs typeface="Noto Sans JP"/>
                <a:sym typeface="Noto Sans JP"/>
              </a:rPr>
              <a:t>・alive bitとbase座標を同時に補正し，敵の表示位置を保ったまま端判定をずらす</a:t>
            </a:r>
            <a:endParaRPr sz="1600">
              <a:solidFill>
                <a:srgbClr val="141414"/>
              </a:solidFill>
              <a:latin typeface="Noto Sans JP"/>
              <a:ea typeface="Noto Sans JP"/>
              <a:cs typeface="Noto Sans JP"/>
              <a:sym typeface="Noto Sans JP"/>
            </a:endParaRPr>
          </a:p>
        </p:txBody>
      </p:sp>
      <p:pic>
        <p:nvPicPr>
          <p:cNvPr id="126" name="Google Shape;126;p22" title="20260728_101137.mp4">
            <a:hlinkClick r:id="rId3"/>
          </p:cNvPr>
          <p:cNvPicPr preferRelativeResize="0"/>
          <p:nvPr/>
        </p:nvPicPr>
        <p:blipFill>
          <a:blip r:embed="rId4">
            <a:alphaModFix/>
          </a:blip>
          <a:stretch>
            <a:fillRect/>
          </a:stretch>
        </p:blipFill>
        <p:spPr>
          <a:xfrm>
            <a:off x="16800" y="1152475"/>
            <a:ext cx="4555200" cy="341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ja" sz="2000"/>
              <a:t>IoT設計とプロ研を通してFPGAを触って</a:t>
            </a:r>
            <a:endParaRPr/>
          </a:p>
        </p:txBody>
      </p:sp>
      <p:sp>
        <p:nvSpPr>
          <p:cNvPr id="132" name="Google Shape;132;p23"/>
          <p:cNvSpPr txBox="1"/>
          <p:nvPr>
            <p:ph idx="1" type="body"/>
          </p:nvPr>
        </p:nvSpPr>
        <p:spPr>
          <a:xfrm>
            <a:off x="311700" y="1152475"/>
            <a:ext cx="8520600" cy="3743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ja" sz="1600">
                <a:solidFill>
                  <a:schemeClr val="dk1"/>
                </a:solidFill>
                <a:latin typeface="Noto Sans JP"/>
                <a:ea typeface="Noto Sans JP"/>
                <a:cs typeface="Noto Sans JP"/>
                <a:sym typeface="Noto Sans JP"/>
              </a:rPr>
              <a:t>・レジスタでいろいろな情報を管理して必要に応じて使う方法</a:t>
            </a:r>
            <a:endParaRPr b="1" sz="1600">
              <a:solidFill>
                <a:schemeClr val="dk1"/>
              </a:solidFill>
              <a:latin typeface="Noto Sans JP"/>
              <a:ea typeface="Noto Sans JP"/>
              <a:cs typeface="Noto Sans JP"/>
              <a:sym typeface="Noto Sans JP"/>
            </a:endParaRPr>
          </a:p>
          <a:p>
            <a:pPr indent="0" lvl="0" marL="0" rtl="0" algn="l">
              <a:spcBef>
                <a:spcPts val="1200"/>
              </a:spcBef>
              <a:spcAft>
                <a:spcPts val="0"/>
              </a:spcAft>
              <a:buNone/>
            </a:pPr>
            <a:r>
              <a:rPr b="1" lang="ja" sz="1000">
                <a:solidFill>
                  <a:schemeClr val="dk1"/>
                </a:solidFill>
                <a:latin typeface="Noto Sans JP"/>
                <a:ea typeface="Noto Sans JP"/>
                <a:cs typeface="Noto Sans JP"/>
                <a:sym typeface="Noto Sans JP"/>
              </a:rPr>
              <a:t>　　⇒OS Aで学習したが，コンパイラもOSも通していないのに，verilogを書いて設定するだけで動くFPGAの自由さ！レジスタもほぼ自由</a:t>
            </a:r>
            <a:endParaRPr b="1" sz="1000">
              <a:solidFill>
                <a:schemeClr val="dk1"/>
              </a:solidFill>
              <a:latin typeface="Noto Sans JP"/>
              <a:ea typeface="Noto Sans JP"/>
              <a:cs typeface="Noto Sans JP"/>
              <a:sym typeface="Noto Sans JP"/>
            </a:endParaRPr>
          </a:p>
          <a:p>
            <a:pPr indent="0" lvl="0" marL="0" rtl="0" algn="l">
              <a:spcBef>
                <a:spcPts val="1200"/>
              </a:spcBef>
              <a:spcAft>
                <a:spcPts val="0"/>
              </a:spcAft>
              <a:buNone/>
            </a:pPr>
            <a:r>
              <a:rPr b="1" lang="ja" sz="1600">
                <a:solidFill>
                  <a:schemeClr val="dk1"/>
                </a:solidFill>
                <a:latin typeface="Noto Sans JP"/>
                <a:ea typeface="Noto Sans JP"/>
                <a:cs typeface="Noto Sans JP"/>
                <a:sym typeface="Noto Sans JP"/>
              </a:rPr>
              <a:t>・ハード部分で全部完結させていた昔のアーケードの凄さと今簡単にプログラムを書いて軽く映せるということの楽さ</a:t>
            </a:r>
            <a:endParaRPr b="1" sz="1600">
              <a:solidFill>
                <a:schemeClr val="dk1"/>
              </a:solidFill>
              <a:latin typeface="Noto Sans JP"/>
              <a:ea typeface="Noto Sans JP"/>
              <a:cs typeface="Noto Sans JP"/>
              <a:sym typeface="Noto Sans JP"/>
            </a:endParaRPr>
          </a:p>
          <a:p>
            <a:pPr indent="0" lvl="0" marL="0" rtl="0" algn="l">
              <a:spcBef>
                <a:spcPts val="1200"/>
              </a:spcBef>
              <a:spcAft>
                <a:spcPts val="0"/>
              </a:spcAft>
              <a:buNone/>
            </a:pPr>
            <a:r>
              <a:rPr b="1" lang="ja" sz="1600">
                <a:solidFill>
                  <a:schemeClr val="dk1"/>
                </a:solidFill>
                <a:latin typeface="Noto Sans JP"/>
                <a:ea typeface="Noto Sans JP"/>
                <a:cs typeface="Noto Sans JP"/>
                <a:sym typeface="Noto Sans JP"/>
              </a:rPr>
              <a:t>・</a:t>
            </a:r>
            <a:r>
              <a:rPr b="1" lang="ja" sz="1600">
                <a:solidFill>
                  <a:schemeClr val="dk1"/>
                </a:solidFill>
                <a:latin typeface="Noto Sans JP"/>
                <a:ea typeface="Noto Sans JP"/>
                <a:cs typeface="Noto Sans JP"/>
                <a:sym typeface="Noto Sans JP"/>
              </a:rPr>
              <a:t>(デモを多分に活用したので，学べたのは僅かだが)</a:t>
            </a:r>
            <a:r>
              <a:rPr b="1" lang="ja" sz="1600">
                <a:solidFill>
                  <a:schemeClr val="dk1"/>
                </a:solidFill>
                <a:latin typeface="Noto Sans JP"/>
                <a:ea typeface="Noto Sans JP"/>
                <a:cs typeface="Noto Sans JP"/>
                <a:sym typeface="Noto Sans JP"/>
              </a:rPr>
              <a:t>映像出力の大変さ</a:t>
            </a:r>
            <a:endParaRPr b="1" sz="1600">
              <a:solidFill>
                <a:schemeClr val="dk1"/>
              </a:solidFill>
              <a:latin typeface="Noto Sans JP"/>
              <a:ea typeface="Noto Sans JP"/>
              <a:cs typeface="Noto Sans JP"/>
              <a:sym typeface="Noto Sans JP"/>
            </a:endParaRPr>
          </a:p>
          <a:p>
            <a:pPr indent="0" lvl="0" marL="0" rtl="0" algn="l">
              <a:spcBef>
                <a:spcPts val="1200"/>
              </a:spcBef>
              <a:spcAft>
                <a:spcPts val="0"/>
              </a:spcAft>
              <a:buNone/>
            </a:pPr>
            <a:r>
              <a:rPr b="1" lang="ja" sz="1600">
                <a:solidFill>
                  <a:schemeClr val="dk1"/>
                </a:solidFill>
                <a:latin typeface="Noto Sans JP"/>
                <a:ea typeface="Noto Sans JP"/>
                <a:cs typeface="Noto Sans JP"/>
                <a:sym typeface="Noto Sans JP"/>
              </a:rPr>
              <a:t>・安全性を考えないときのMMIOの楽さ</a:t>
            </a:r>
            <a:r>
              <a:rPr b="1" lang="ja" sz="900">
                <a:solidFill>
                  <a:schemeClr val="dk1"/>
                </a:solidFill>
                <a:latin typeface="Noto Sans JP"/>
                <a:ea typeface="Noto Sans JP"/>
                <a:cs typeface="Noto Sans JP"/>
                <a:sym typeface="Noto Sans JP"/>
              </a:rPr>
              <a:t>(足していくだけ，デバイスファイルなどを考えなくていい）</a:t>
            </a:r>
            <a:endParaRPr b="1" sz="900">
              <a:solidFill>
                <a:schemeClr val="dk1"/>
              </a:solidFill>
              <a:latin typeface="Noto Sans JP"/>
              <a:ea typeface="Noto Sans JP"/>
              <a:cs typeface="Noto Sans JP"/>
              <a:sym typeface="Noto Sans JP"/>
            </a:endParaRPr>
          </a:p>
          <a:p>
            <a:pPr indent="0" lvl="0" marL="0" rtl="0" algn="l">
              <a:lnSpc>
                <a:spcPct val="127636"/>
              </a:lnSpc>
              <a:spcBef>
                <a:spcPts val="1200"/>
              </a:spcBef>
              <a:spcAft>
                <a:spcPts val="0"/>
              </a:spcAft>
              <a:buClr>
                <a:schemeClr val="dk1"/>
              </a:buClr>
              <a:buSzPts val="1100"/>
              <a:buFont typeface="Arial"/>
              <a:buNone/>
            </a:pPr>
            <a:r>
              <a:rPr b="1" lang="ja" sz="1050">
                <a:solidFill>
                  <a:srgbClr val="1F1F1F"/>
                </a:solidFill>
                <a:highlight>
                  <a:srgbClr val="FFFFFF"/>
                </a:highlight>
                <a:latin typeface="Noto Sans JP"/>
                <a:ea typeface="Noto Sans JP"/>
                <a:cs typeface="Noto Sans JP"/>
                <a:sym typeface="Noto Sans JP"/>
              </a:rPr>
              <a:t>インベーダーゲームの歴史</a:t>
            </a:r>
            <a:r>
              <a:rPr b="1" lang="ja" sz="1100">
                <a:solidFill>
                  <a:schemeClr val="dk1"/>
                </a:solidFill>
                <a:latin typeface="Noto Sans JP"/>
                <a:ea typeface="Noto Sans JP"/>
                <a:cs typeface="Noto Sans JP"/>
                <a:sym typeface="Noto Sans JP"/>
              </a:rPr>
              <a:t> ：</a:t>
            </a:r>
            <a:r>
              <a:rPr b="1" lang="ja" sz="1100">
                <a:solidFill>
                  <a:srgbClr val="215DC6"/>
                </a:solidFill>
                <a:highlight>
                  <a:srgbClr val="FFFFFF"/>
                </a:highlight>
                <a:uFill>
                  <a:noFill/>
                </a:uFill>
                <a:latin typeface="Noto Sans JP"/>
                <a:ea typeface="Noto Sans JP"/>
                <a:cs typeface="Noto Sans JP"/>
                <a:sym typeface="Noto Sans JP"/>
                <a:hlinkClick r:id="rId3">
                  <a:extLst>
                    <a:ext uri="{A12FA001-AC4F-418D-AE19-62706E023703}">
                      <ahyp:hlinkClr val="tx"/>
                    </a:ext>
                  </a:extLst>
                </a:hlinkClick>
              </a:rPr>
              <a:t>https://artsandculture.google.com/story/wAVxCu_0BaX0aw?hl=ja</a:t>
            </a:r>
            <a:endParaRPr b="1" sz="1100">
              <a:solidFill>
                <a:srgbClr val="215DC6"/>
              </a:solidFill>
              <a:highlight>
                <a:srgbClr val="FFFFFF"/>
              </a:highlight>
              <a:latin typeface="Noto Sans JP"/>
              <a:ea typeface="Noto Sans JP"/>
              <a:cs typeface="Noto Sans JP"/>
              <a:sym typeface="Noto Sans JP"/>
            </a:endParaRPr>
          </a:p>
          <a:p>
            <a:pPr indent="0" lvl="0" marL="0" rtl="0" algn="l">
              <a:lnSpc>
                <a:spcPct val="127636"/>
              </a:lnSpc>
              <a:spcBef>
                <a:spcPts val="1100"/>
              </a:spcBef>
              <a:spcAft>
                <a:spcPts val="0"/>
              </a:spcAft>
              <a:buClr>
                <a:schemeClr val="dk1"/>
              </a:buClr>
              <a:buSzPts val="1100"/>
              <a:buFont typeface="Arial"/>
              <a:buNone/>
            </a:pPr>
            <a:r>
              <a:rPr b="1" lang="ja" sz="1050">
                <a:solidFill>
                  <a:srgbClr val="1F1F1F"/>
                </a:solidFill>
                <a:highlight>
                  <a:srgbClr val="FFFFFF"/>
                </a:highlight>
                <a:latin typeface="Noto Sans JP"/>
                <a:ea typeface="Noto Sans JP"/>
                <a:cs typeface="Noto Sans JP"/>
                <a:sym typeface="Noto Sans JP"/>
              </a:rPr>
              <a:t>アタリ Sprint 2の技術仕様：</a:t>
            </a:r>
            <a:r>
              <a:rPr b="1" lang="ja" sz="1100">
                <a:solidFill>
                  <a:schemeClr val="dk1"/>
                </a:solidFill>
                <a:latin typeface="Noto Sans JP"/>
                <a:ea typeface="Noto Sans JP"/>
                <a:cs typeface="Noto Sans JP"/>
                <a:sym typeface="Noto Sans JP"/>
              </a:rPr>
              <a:t> </a:t>
            </a:r>
            <a:r>
              <a:rPr b="1" lang="ja" sz="1100">
                <a:solidFill>
                  <a:srgbClr val="215DC6"/>
                </a:solidFill>
                <a:highlight>
                  <a:srgbClr val="FFFFFF"/>
                </a:highlight>
                <a:uFill>
                  <a:noFill/>
                </a:uFill>
                <a:latin typeface="Noto Sans JP"/>
                <a:ea typeface="Noto Sans JP"/>
                <a:cs typeface="Noto Sans JP"/>
                <a:sym typeface="Noto Sans JP"/>
                <a:hlinkClick r:id="rId4">
                  <a:extLst>
                    <a:ext uri="{A12FA001-AC4F-418D-AE19-62706E023703}">
                      <ahyp:hlinkClr val="tx"/>
                    </a:ext>
                  </a:extLst>
                </a:hlinkClick>
              </a:rPr>
              <a:t>https://www.arcade-museum.com/manuals-videogames/S/Sprint2.pdf</a:t>
            </a:r>
            <a:endParaRPr b="1" sz="1100">
              <a:solidFill>
                <a:srgbClr val="215DC6"/>
              </a:solidFill>
              <a:highlight>
                <a:srgbClr val="FFFFFF"/>
              </a:highlight>
              <a:latin typeface="Noto Sans JP"/>
              <a:ea typeface="Noto Sans JP"/>
              <a:cs typeface="Noto Sans JP"/>
              <a:sym typeface="Noto Sans JP"/>
            </a:endParaRPr>
          </a:p>
          <a:p>
            <a:pPr indent="0" lvl="0" marL="0" rtl="0" algn="l">
              <a:lnSpc>
                <a:spcPct val="127636"/>
              </a:lnSpc>
              <a:spcBef>
                <a:spcPts val="1100"/>
              </a:spcBef>
              <a:spcAft>
                <a:spcPts val="0"/>
              </a:spcAft>
              <a:buClr>
                <a:schemeClr val="dk1"/>
              </a:buClr>
              <a:buSzPts val="1100"/>
              <a:buFont typeface="Arial"/>
              <a:buNone/>
            </a:pPr>
            <a:r>
              <a:rPr b="1" lang="ja" sz="1050">
                <a:solidFill>
                  <a:srgbClr val="1F1F1F"/>
                </a:solidFill>
                <a:highlight>
                  <a:srgbClr val="FFFFFF"/>
                </a:highlight>
              </a:rPr>
              <a:t>インベーダーゲーム製作者インタビュー</a:t>
            </a:r>
            <a:r>
              <a:rPr lang="ja" sz="1100">
                <a:solidFill>
                  <a:schemeClr val="dk1"/>
                </a:solidFill>
              </a:rPr>
              <a:t> ：</a:t>
            </a:r>
            <a:r>
              <a:rPr b="1" lang="ja" sz="1100">
                <a:solidFill>
                  <a:srgbClr val="215DC6"/>
                </a:solidFill>
                <a:highlight>
                  <a:srgbClr val="FFFFFF"/>
                </a:highlight>
                <a:uFill>
                  <a:noFill/>
                </a:uFill>
                <a:latin typeface="Noto Sans JP"/>
                <a:ea typeface="Noto Sans JP"/>
                <a:cs typeface="Noto Sans JP"/>
                <a:sym typeface="Noto Sans JP"/>
                <a:hlinkClick r:id="rId5">
                  <a:extLst>
                    <a:ext uri="{A12FA001-AC4F-418D-AE19-62706E023703}">
                      <ahyp:hlinkClr val="tx"/>
                    </a:ext>
                  </a:extLst>
                </a:hlinkClick>
              </a:rPr>
              <a:t>https://igcc.jp/%E8%A5%BF%E8%A7%92%E5%8F%8B%E5%AE%8F1/</a:t>
            </a:r>
            <a:endParaRPr b="1" sz="1100">
              <a:solidFill>
                <a:srgbClr val="215DC6"/>
              </a:solidFill>
              <a:highlight>
                <a:srgbClr val="FFFFFF"/>
              </a:highlight>
              <a:latin typeface="Noto Sans JP"/>
              <a:ea typeface="Noto Sans JP"/>
              <a:cs typeface="Noto Sans JP"/>
              <a:sym typeface="Noto Sans JP"/>
            </a:endParaRPr>
          </a:p>
          <a:p>
            <a:pPr indent="0" lvl="0" marL="0" rtl="0" algn="l">
              <a:lnSpc>
                <a:spcPct val="127636"/>
              </a:lnSpc>
              <a:spcBef>
                <a:spcPts val="1100"/>
              </a:spcBef>
              <a:spcAft>
                <a:spcPts val="1100"/>
              </a:spcAft>
              <a:buNone/>
            </a:pPr>
            <a:r>
              <a:rPr b="1" lang="ja" sz="1050">
                <a:solidFill>
                  <a:srgbClr val="1F1F1F"/>
                </a:solidFill>
                <a:highlight>
                  <a:srgbClr val="FFFFFF"/>
                </a:highlight>
              </a:rPr>
              <a:t>Space Invaders Hardware</a:t>
            </a:r>
            <a:r>
              <a:rPr lang="ja" sz="600">
                <a:solidFill>
                  <a:schemeClr val="dk1"/>
                </a:solidFill>
              </a:rPr>
              <a:t> (おそらく非公式解析というかリバースエンジニアリング(物理)のファンサイト?)</a:t>
            </a:r>
            <a:r>
              <a:rPr b="1" lang="ja" sz="1100">
                <a:solidFill>
                  <a:srgbClr val="215DC6"/>
                </a:solidFill>
                <a:highlight>
                  <a:srgbClr val="FFFFFF"/>
                </a:highlight>
                <a:uFill>
                  <a:noFill/>
                </a:uFill>
                <a:latin typeface="Noto Sans JP"/>
                <a:ea typeface="Noto Sans JP"/>
                <a:cs typeface="Noto Sans JP"/>
                <a:sym typeface="Noto Sans JP"/>
                <a:hlinkClick r:id="rId6">
                  <a:extLst>
                    <a:ext uri="{A12FA001-AC4F-418D-AE19-62706E023703}">
                      <ahyp:hlinkClr val="tx"/>
                    </a:ext>
                  </a:extLst>
                </a:hlinkClick>
              </a:rPr>
              <a:t>https://www.computerarcheology.com/Arcade/SpaceInvaders/Hardware.html</a:t>
            </a:r>
            <a:endParaRPr b="1" sz="1000">
              <a:solidFill>
                <a:schemeClr val="dk1"/>
              </a:solidFill>
              <a:latin typeface="Noto Sans JP"/>
              <a:ea typeface="Noto Sans JP"/>
              <a:cs typeface="Noto Sans JP"/>
              <a:sym typeface="Noto Sans JP"/>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